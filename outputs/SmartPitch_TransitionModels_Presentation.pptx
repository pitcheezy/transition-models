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80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432000"/>
            <a:ext cx="11324952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E67E22"/>
                </a:solidFill>
              </a:rPr>
              <a:t>SmartPitch MDP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900000"/>
            <a:ext cx="11324952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전이확률 모델 비교 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475999"/>
            <a:ext cx="113249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5A5A6"/>
                </a:solidFill>
              </a:rPr>
              <a:t>Transition Probability Model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1980000"/>
            <a:ext cx="1440000" cy="6480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4000" y="1998000"/>
            <a:ext cx="12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</a:rPr>
              <a:t>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4000" y="21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MLB Statcast 2022–2024
2,233,284 train/val/test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7999" y="1980000"/>
            <a:ext cx="1440000" cy="6480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9999" y="1998000"/>
            <a:ext cx="12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</a:rPr>
              <a:t>재현 논문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9999" y="21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Otremba 2022
MIT Sloan 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3998" y="1980000"/>
            <a:ext cx="1440000" cy="6480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5998" y="1998000"/>
            <a:ext cx="12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</a:rPr>
              <a:t>주요 발견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5998" y="21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Arsenal Context 58d
Collapse 해소 + MDP 호환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570000"/>
            <a:ext cx="11324952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5A5A6"/>
                </a:solidFill>
              </a:rPr>
              <a:t>2026-05-06 ~ 2026-05-27 | Phase 1~10 완료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문제 정의 &amp; 연구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56000"/>
            <a:ext cx="113249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</a:rPr>
              <a:t>MDP 전이확률  P(outcome | pitch, context) 추정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1152000"/>
            <a:ext cx="5482476" cy="1007999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188000"/>
            <a:ext cx="5302476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state s  = 볼카운트 · 주자상황 · 이닝 ...
action a = 투구 종류 · 위치
outcome  = Ball / Strike / Foul / InPlay  (4-class)
         = Ball / Strike / Single / Double / Triple
           / HR / FieldOut / Strikeout / Walk / HBP  (10-class)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2476" y="1152000"/>
            <a:ext cx="5554476" cy="396000"/>
          </a:xfrm>
          <a:prstGeom prst="rect">
            <a:avLst/>
          </a:prstGeom>
          <a:solidFill>
            <a:srgbClr val="F8F9FA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0476" y="1170000"/>
            <a:ext cx="5338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</a:rPr>
              <a:t>Otremba 2022 (SmartPitch)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0476" y="1350000"/>
            <a:ext cx="5338476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4-class만 예측, 투수 맥락 feature 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02476" y="1620000"/>
            <a:ext cx="5554476" cy="396000"/>
          </a:xfrm>
          <a:prstGeom prst="rect">
            <a:avLst/>
          </a:prstGeom>
          <a:solidFill>
            <a:srgbClr val="F8F9FA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0476" y="1638000"/>
            <a:ext cx="5338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</a:rPr>
              <a:t>MIT Sloan 2025 (Transformer)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0476" y="1818000"/>
            <a:ext cx="5338476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10-class 가능, MDP 비호환 (400-pitch history 필요)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2160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980B9"/>
                </a:solidFill>
              </a:rPr>
              <a:t>연구 목표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2411999"/>
            <a:ext cx="1404000" cy="324000"/>
          </a:xfrm>
          <a:prstGeom prst="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000" y="2419200"/>
            <a:ext cx="126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980B9"/>
                </a:solidFill>
              </a:rPr>
              <a:t>① 비교 조건 분리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000" y="2573999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같은 N·지표끼리만 직접 비교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44000" y="2411999"/>
            <a:ext cx="1404000" cy="324000"/>
          </a:xfrm>
          <a:prstGeom prst="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6000" y="2419200"/>
            <a:ext cx="126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980B9"/>
                </a:solidFill>
              </a:rPr>
              <a:t>② MDP + 10-class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6000" y="2573999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MDP 호환 유지하면서 10-class 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56000" y="2411999"/>
            <a:ext cx="1404000" cy="324000"/>
          </a:xfrm>
          <a:prstGeom prst="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8000" y="2419200"/>
            <a:ext cx="126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980B9"/>
                </a:solidFill>
              </a:rPr>
              <a:t>③ Collapse 규명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8000" y="2573999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원인 분석 및 해결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논문 포지셔닝: 3-way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3 / 10</a:t>
            </a:r>
          </a:p>
        </p:txBody>
      </p:sp>
      <p:pic>
        <p:nvPicPr>
          <p:cNvPr id="5" name="Picture 4" descr="fig2_paper_positio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756000"/>
            <a:ext cx="11324952" cy="53558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498000"/>
            <a:ext cx="11324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7E22"/>
                </a:solidFill>
              </a:rPr>
              <a:t>차별점: Otremba MDP/RL 통합  +  MIT Sloan-style 10-class 세분화  +  본인 Arsenal Context 58d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데이터 &amp; 핵심 엔지니어링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4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864000"/>
            <a:ext cx="1980000" cy="251999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4000" y="900000"/>
            <a:ext cx="7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980B9"/>
                </a:solidFill>
              </a:rPr>
              <a:t>시즌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9999" y="900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2022 · 2023 ·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170000"/>
            <a:ext cx="1980000" cy="251999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4000" y="1206000"/>
            <a:ext cx="7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980B9"/>
                </a:solidFill>
              </a:rPr>
              <a:t>학습/평가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9999" y="1206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2,233,284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1476000"/>
            <a:ext cx="1980000" cy="251999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000" y="1512000"/>
            <a:ext cx="7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980B9"/>
                </a:solidFill>
              </a:rPr>
              <a:t>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9999" y="1512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1,494,188 / 385,320 / 353,776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782000"/>
            <a:ext cx="1980000" cy="251999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00" y="1818000"/>
            <a:ext cx="7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980B9"/>
                </a:solidFill>
              </a:rPr>
              <a:t>handoff pool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9999" y="1818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2,983,621 source rows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088000"/>
            <a:ext cx="1980000" cy="251999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000" y="2124000"/>
            <a:ext cx="7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980B9"/>
                </a:solidFill>
              </a:rPr>
              <a:t>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9999" y="2124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77d / 87d / 135d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6476" y="864000"/>
            <a:ext cx="5590476" cy="503999"/>
          </a:xfrm>
          <a:prstGeom prst="rect">
            <a:avLst/>
          </a:prstGeom>
          <a:solidFill>
            <a:srgbClr val="F8F9FA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4476" y="900000"/>
            <a:ext cx="5374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① Lazy Loading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4476" y="1080000"/>
            <a:ext cx="5374476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Eager: 72.6 GB → Lazy: 0.25 GB
(290배 절감)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6476" y="1440000"/>
            <a:ext cx="5590476" cy="503999"/>
          </a:xfrm>
          <a:prstGeom prst="rect">
            <a:avLst/>
          </a:prstGeom>
          <a:solidFill>
            <a:srgbClr val="F8F9FA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4476" y="1476000"/>
            <a:ext cx="5374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980B9"/>
                </a:solidFill>
              </a:rPr>
              <a:t>② Stride=8 최적화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4476" y="1656000"/>
            <a:ext cx="5374476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38시간 → 5시간 (sequence_length=400 유지)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66476" y="2016000"/>
            <a:ext cx="5590476" cy="503999"/>
          </a:xfrm>
          <a:prstGeom prst="rect">
            <a:avLst/>
          </a:prstGeom>
          <a:solidFill>
            <a:srgbClr val="F8F9FA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74476" y="2052000"/>
            <a:ext cx="5374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③ Multi-platform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4476" y="2232000"/>
            <a:ext cx="5374476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CUDA → MPS → CPU 자동 감지 (get_device())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2502000"/>
            <a:ext cx="11324952" cy="36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0000" y="2519999"/>
            <a:ext cx="180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</a:rPr>
              <a:t>135-dim Feature 구성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000" y="2592000"/>
            <a:ext cx="11108952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135-dim = 77d (Model B) + 5d UMAP + 1d count_cluster + 32d arsenal_func + 20d arsenal_moment
[0:77] 기존 feature   [77:83] 볼카운트 맥락   [83:135] Pitcher Arsenal 통계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실험 설계 &amp; 공정 비교 환경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5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828000"/>
            <a:ext cx="2020491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846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2470491" y="828000"/>
            <a:ext cx="2246990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06491" y="84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35481" y="828000"/>
            <a:ext cx="2246990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1481" y="84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472" y="828000"/>
            <a:ext cx="2246990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36472" y="84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Params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65462" y="828000"/>
            <a:ext cx="887996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1462" y="846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MDP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026000"/>
            <a:ext cx="2020491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1044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70491" y="1026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06491" y="1044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Linear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35481" y="1026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1481" y="1044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77d / 135d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0472" y="1026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36472" y="1044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~770 / ~1350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65462" y="1026000"/>
            <a:ext cx="887996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1462" y="1044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7AE60"/>
                </a:solidFill>
              </a:rPr>
              <a:t>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1224000"/>
            <a:ext cx="2020491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000" y="1242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LightGBM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70491" y="1224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06491" y="1242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Tree (boosting)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35481" y="1224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1481" y="1242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77d / 135d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00472" y="1224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36472" y="1242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~50K leaves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65462" y="1224000"/>
            <a:ext cx="887996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01462" y="1242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7AE60"/>
                </a:solidFill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000" y="1422000"/>
            <a:ext cx="2020491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8000" y="1440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MLP 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70491" y="1422000"/>
            <a:ext cx="2246990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06491" y="1440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FC [128,128]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35481" y="1422000"/>
            <a:ext cx="2246990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71481" y="1440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77d / 135d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00472" y="1422000"/>
            <a:ext cx="2246990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36472" y="1440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~27K / ~32K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65462" y="1422000"/>
            <a:ext cx="887996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01462" y="1440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2000" y="1620000"/>
            <a:ext cx="2020491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8000" y="1638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RNN (LSTM)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70491" y="1620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06491" y="1638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2-layer LSTM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35481" y="1620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1481" y="1638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400×87 seq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00472" y="1620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36472" y="1638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~590K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65462" y="1620000"/>
            <a:ext cx="887996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01462" y="1638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74C3C"/>
                </a:solidFill>
              </a:rPr>
              <a:t>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1818000"/>
            <a:ext cx="2020491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8000" y="1836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Transformer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70491" y="1818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06491" y="183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12-layer Enc.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35481" y="1818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71481" y="183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400×87 seq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00472" y="1818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36472" y="183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9.7M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65462" y="1818000"/>
            <a:ext cx="887996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01462" y="1836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74C3C"/>
                </a:solidFill>
              </a:rPr>
              <a:t>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2000" y="2160000"/>
            <a:ext cx="1132495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C3E50"/>
                </a:solidFill>
              </a:rPr>
              <a:t>공정 비교 원칙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2000" y="2376000"/>
            <a:ext cx="11324952" cy="216000"/>
          </a:xfrm>
          <a:prstGeom prst="rect">
            <a:avLst/>
          </a:prstGeom>
          <a:solidFill>
            <a:srgbClr val="F8F9FA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4000" y="24048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7AE60"/>
                </a:solidFill>
              </a:rPr>
              <a:t>G3 vs G4 (iid)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00000" y="2404800"/>
            <a:ext cx="981295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같은 N (353K), 같은 architecture → context 효과만 비교 ✅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2000" y="2627999"/>
            <a:ext cx="11324952" cy="216000"/>
          </a:xfrm>
          <a:prstGeom prst="rect">
            <a:avLst/>
          </a:prstGeom>
          <a:solidFill>
            <a:srgbClr val="F8F9FA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4000" y="2656799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7AE60"/>
                </a:solidFill>
              </a:rPr>
              <a:t>G5 vs G6' (seq)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00000" y="2656799"/>
            <a:ext cx="981295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같은 N=22,127, drop=False → hybrid 효과 비교 ✅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2000" y="2879998"/>
            <a:ext cx="11324952" cy="216000"/>
          </a:xfrm>
          <a:prstGeom prst="rect">
            <a:avLst/>
          </a:prstGeom>
          <a:solidFill>
            <a:srgbClr val="F8F9FA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4000" y="2908798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7E22"/>
                </a:solidFill>
              </a:rPr>
              <a:t>G4 vs G5 (cross)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00000" y="2908798"/>
            <a:ext cx="981295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N 다름 (iid: 전수, seq: last-pitch-of-AB) → 주의 ⚠️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핵심 발견 1: 10-class i.i.d. Collapse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6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828000"/>
            <a:ext cx="1680742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846000"/>
            <a:ext cx="1626742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모델 (77d)</a:t>
            </a:r>
          </a:p>
        </p:txBody>
      </p:sp>
      <p:sp>
        <p:nvSpPr>
          <p:cNvPr id="7" name="Rectangle 6"/>
          <p:cNvSpPr/>
          <p:nvPr/>
        </p:nvSpPr>
        <p:spPr>
          <a:xfrm>
            <a:off x="2130742" y="828000"/>
            <a:ext cx="1340994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66742" y="846000"/>
            <a:ext cx="1286994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Top-1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9737" y="828000"/>
            <a:ext cx="1567493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5737" y="846000"/>
            <a:ext cx="1513493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Macro-F1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5230" y="828000"/>
            <a:ext cx="6210723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11230" y="846000"/>
            <a:ext cx="6156723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패턴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1026000"/>
            <a:ext cx="1680742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044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LR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30742" y="1026000"/>
            <a:ext cx="1340994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66742" y="1044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41.1%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89737" y="1026000"/>
            <a:ext cx="156749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5737" y="1044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5.9%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5230" y="1026000"/>
            <a:ext cx="621072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1230" y="1044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Strike만 예측 (97.6%)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1278000"/>
            <a:ext cx="1680742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000" y="1296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LightGBM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30742" y="1278000"/>
            <a:ext cx="1340994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6742" y="1296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13.0%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89737" y="1278000"/>
            <a:ext cx="156749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5737" y="1296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7.2%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5230" y="1278000"/>
            <a:ext cx="621072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1230" y="1296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전 클래스 균등 예측 (역방향 collapse)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1530000"/>
            <a:ext cx="1680742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1548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MLP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30742" y="1530000"/>
            <a:ext cx="1340994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66742" y="1548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41.1%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89737" y="1530000"/>
            <a:ext cx="156749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5737" y="1548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5.8%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75230" y="1530000"/>
            <a:ext cx="621072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11230" y="1548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Strike만 예측 (Focal Loss γ=2 무효)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1782000"/>
            <a:ext cx="1680742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8000" y="1800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RNN (seq)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30742" y="1782000"/>
            <a:ext cx="1340994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66742" y="1800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66.9%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89737" y="1782000"/>
            <a:ext cx="1567493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5737" y="1800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28.8%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5230" y="1782000"/>
            <a:ext cx="6210723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11230" y="1800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7AE60"/>
                </a:solidFill>
              </a:rPr>
              <a:t>정상 ✅ — 400-pitch context 활용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2000" y="2034000"/>
            <a:ext cx="1680742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8000" y="2052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Transformer (seq)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30742" y="2034000"/>
            <a:ext cx="1340994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66742" y="2052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67.2%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89737" y="2034000"/>
            <a:ext cx="1567493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25737" y="2052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30.1%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75230" y="2034000"/>
            <a:ext cx="6210723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11230" y="2052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7AE60"/>
                </a:solidFill>
              </a:rPr>
              <a:t>정상 ✅ — 400-pitch context 활용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2000" y="2394000"/>
            <a:ext cx="11324952" cy="432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0000" y="24228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왜 Macro-F1이 핵심인가?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0000" y="2592000"/>
            <a:ext cx="11108952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Top-1 41.1%는 나름 성능 있어 보이지만 → Macro-F1 5.8% = random(10%) 이하
= 'Strike 예측기' — class balancing · Focal Loss · sqrt-balanced 모두 무효 → 원인은 feature 부재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베이스라인 비교: 객관적 위치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7 / 10</a:t>
            </a:r>
          </a:p>
        </p:txBody>
      </p:sp>
      <p:pic>
        <p:nvPicPr>
          <p:cNvPr id="5" name="Picture 4" descr="fig4_sota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700" y="756000"/>
            <a:ext cx="11211552" cy="563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498000"/>
            <a:ext cx="11324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7E22"/>
                </a:solidFill>
              </a:rPr>
              <a:t>직접 주장 가능한 비교: 내부 Transformer baseline 67.2% vs MLP10 67.6%; 외부 문헌은 참고용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핵심 발견 2: Arsenal Context가 Collapse 해소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8 / 10</a:t>
            </a:r>
          </a:p>
        </p:txBody>
      </p:sp>
      <p:pic>
        <p:nvPicPr>
          <p:cNvPr id="5" name="Picture 4" descr="fig1_core_finding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876" y="756000"/>
            <a:ext cx="4291200" cy="158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32000" y="2411999"/>
            <a:ext cx="2473489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8000" y="2429999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3489" y="2411999"/>
            <a:ext cx="2473489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9489" y="2429999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77d (collapse)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14978" y="2411999"/>
            <a:ext cx="2473489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0978" y="2429999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135d (+context)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6468" y="2411999"/>
            <a:ext cx="2020491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42468" y="2429999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변화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609999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2627999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3489" y="2609999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9489" y="2627999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74C3C"/>
                </a:solidFill>
              </a:rPr>
              <a:t>41.1% 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14978" y="2609999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0978" y="2627999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7AE60"/>
                </a:solidFill>
              </a:rPr>
              <a:t>62.4%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6468" y="2609999"/>
            <a:ext cx="2020491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42468" y="2627999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67E22"/>
                </a:solidFill>
              </a:rPr>
              <a:t>+21.3pp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807999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2825999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LightGBM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3489" y="2807999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9489" y="2825999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74C3C"/>
                </a:solidFill>
              </a:rPr>
              <a:t>13.0% 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14978" y="2807999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0978" y="2825999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7AE60"/>
                </a:solidFill>
              </a:rPr>
              <a:t>67.3%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06468" y="2807999"/>
            <a:ext cx="2020491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42468" y="2825999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67E22"/>
                </a:solidFill>
              </a:rPr>
              <a:t>+54.3pp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2000" y="3005999"/>
            <a:ext cx="2473489" cy="19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000" y="3023999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MLP (focal) 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3489" y="3005999"/>
            <a:ext cx="2473489" cy="19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59489" y="3023999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74C3C"/>
                </a:solidFill>
              </a:rPr>
              <a:t>41.1% 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14978" y="3005999"/>
            <a:ext cx="2473489" cy="19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50978" y="3023999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7AE60"/>
                </a:solidFill>
              </a:rPr>
              <a:t>67.6%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6468" y="3005999"/>
            <a:ext cx="2020491" cy="19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42468" y="3023999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67E22"/>
                </a:solidFill>
              </a:rPr>
              <a:t>+26.5pp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000" y="3311999"/>
            <a:ext cx="11324952" cy="324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0000" y="3340799"/>
            <a:ext cx="11108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980B9"/>
                </a:solidFill>
              </a:rPr>
              <a:t>결론: Collapse 원인 = Architecture × Feature 수 아님 = 투수 맥락(pitcher context) 부재
Top-1은 sequence baseline과 유사, MLP10은 MDP 호환성과 추론 효율이 강점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10 최종: 12-model 전체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9 / 10</a:t>
            </a:r>
          </a:p>
        </p:txBody>
      </p:sp>
      <p:pic>
        <p:nvPicPr>
          <p:cNvPr id="5" name="Picture 4" descr="fig3_phase10_12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906" y="756000"/>
            <a:ext cx="4601140" cy="16559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32000" y="2484000"/>
            <a:ext cx="11324952" cy="576000"/>
          </a:xfrm>
          <a:prstGeom prst="rect">
            <a:avLst/>
          </a:prstGeom>
          <a:solidFill>
            <a:srgbClr val="E8F8E8"/>
          </a:solidFill>
          <a:ln w="317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2512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✅ 최종 모델: TransitionModelMLP10 / RL 권장 경로: MLP10H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718000"/>
            <a:ext cx="11108952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>
                <a:solidFill>
                  <a:srgbClr val="2C3E50"/>
                </a:solidFill>
              </a:rPr>
              <a:t>MLP10: 135d 단일 pitch, Top-1 67.6%, Macro-F1 27.8%, CE 0.926, MDP 호환
MLP10H: MLP10의 BIP 총량을 empirical BIP table로 재분배해 Single~HR 0% 문제 완화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결론 &amp; 팀 통합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10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828000"/>
            <a:ext cx="6794971" cy="450000"/>
          </a:xfrm>
          <a:prstGeom prst="rect">
            <a:avLst/>
          </a:prstGeom>
          <a:solidFill>
            <a:srgbClr val="F8F9FA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856800"/>
            <a:ext cx="64552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74C3C"/>
                </a:solidFill>
              </a:rPr>
              <a:t>① Collapse 원인 규명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036800"/>
            <a:ext cx="6455222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77d i.i.d. 모델 collapse = 투수 맥락(pitcher context) 부재
class balancing · Focal Loss 모두 무효 — feature 구조 문제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331999"/>
            <a:ext cx="6794971" cy="450000"/>
          </a:xfrm>
          <a:prstGeom prst="rect">
            <a:avLst/>
          </a:prstGeom>
          <a:solidFill>
            <a:srgbClr val="F8F9FA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1360799"/>
            <a:ext cx="64552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② Context = Architecture-Agnostic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1540799"/>
            <a:ext cx="6455222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arsenal 58d 추가 → LR +21pp, LGB +54pp, MLP +27pp
Top-1은 sequence baseline과 유사, MDP 호환성이 강점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1835998"/>
            <a:ext cx="6794971" cy="450000"/>
          </a:xfrm>
          <a:prstGeom prst="rect">
            <a:avLst/>
          </a:prstGeom>
          <a:solidFill>
            <a:srgbClr val="F8F9FA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1864798"/>
            <a:ext cx="64552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980B9"/>
                </a:solidFill>
              </a:rPr>
              <a:t>③ Sequence는 Context를 내재 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2044798"/>
            <a:ext cx="6455222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RNN/Transformer에 static context 추가 → 효과 없음
400-pitch history가 arsenal context를 이미 포함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4719" y="828000"/>
            <a:ext cx="4190232" cy="14400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719" y="864000"/>
            <a:ext cx="385048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rl-agent 사용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42719" y="1080000"/>
            <a:ext cx="3850483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>
                <a:solidFill>
                  <a:srgbClr val="FFFFFF"/>
                </a:solidFill>
              </a:rPr>
              <a:t>MDP-VI
  P(s'|s,a) table 직접 precompute
Dyna-Q
  planning에서 transition cache 사용
DQN / DDQN / PPO
  전이표 직접 사용 X
  PitchEnv.step()이 MLP10/MLP10H로
  outcome을 샘플링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2447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</a:rPr>
              <a:t>Future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000" y="2663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• MLP10H RL 비교 강화 → BIP 보상 안정화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000" y="2843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• 타자 arsenal feature → Single~HR 0% 해결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000" y="3023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• Small Transformer (2-layer) MDP 호환 탐색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000" y="3203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• UMAP 0-fill ablation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