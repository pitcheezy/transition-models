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800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432000"/>
            <a:ext cx="11324952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E67E22"/>
                </a:solidFill>
              </a:rPr>
              <a:t>SmartPitch MDP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900000"/>
            <a:ext cx="11324952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전이확률 모델 비교 실험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475999"/>
            <a:ext cx="11324952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95A5A6"/>
                </a:solidFill>
              </a:rPr>
              <a:t>Transition Probability Model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1980000"/>
            <a:ext cx="1440000" cy="6480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4000" y="1998000"/>
            <a:ext cx="129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7E22"/>
                </a:solidFill>
              </a:rPr>
              <a:t>데이터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4000" y="2196000"/>
            <a:ext cx="12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MLB Statcast 2022–2024
2,983,621 투구</a:t>
            </a:r>
          </a:p>
        </p:txBody>
      </p:sp>
      <p:sp>
        <p:nvSpPr>
          <p:cNvPr id="9" name="Rectangle 8"/>
          <p:cNvSpPr/>
          <p:nvPr/>
        </p:nvSpPr>
        <p:spPr>
          <a:xfrm>
            <a:off x="1997999" y="1980000"/>
            <a:ext cx="1440000" cy="6480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69999" y="1998000"/>
            <a:ext cx="129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7E22"/>
                </a:solidFill>
              </a:rPr>
              <a:t>재현 논문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9999" y="2196000"/>
            <a:ext cx="12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Otremba 2022
MIT Sloan 2025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3998" y="1980000"/>
            <a:ext cx="1440000" cy="6480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5998" y="1998000"/>
            <a:ext cx="129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7E22"/>
                </a:solidFill>
              </a:rPr>
              <a:t>주요 발견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5998" y="2196000"/>
            <a:ext cx="12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Arsenal Context 58d
Collapse 해소 + MDP 호환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570000"/>
            <a:ext cx="11324952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5A5A6"/>
                </a:solidFill>
              </a:rPr>
              <a:t>2026-05-06 ~ 2026-05-27 | Phase 1~10 완료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문제 정의 &amp; 연구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756000"/>
            <a:ext cx="11324952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3E50"/>
                </a:solidFill>
              </a:rPr>
              <a:t>MDP 전이확률  P(outcome | pitch, context) 추정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1152000"/>
            <a:ext cx="5482476" cy="1007999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1188000"/>
            <a:ext cx="5302476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state s  = 볼카운트 · 주자상황 · 이닝 ...
action a = 투구 종류 · 위치
outcome  = Ball / Strike / Foul / InPlay  (4-class)
         = Ball / Strike / Single / Double / Triple
           / HR / FieldOut / Strikeout / Walk / HBP  (10-class)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2476" y="1152000"/>
            <a:ext cx="5554476" cy="396000"/>
          </a:xfrm>
          <a:prstGeom prst="rect">
            <a:avLst/>
          </a:prstGeom>
          <a:solidFill>
            <a:srgbClr val="F8F9FA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0476" y="1170000"/>
            <a:ext cx="5338476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</a:rPr>
              <a:t>Otremba 2022 (SmartPitch)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0476" y="1350000"/>
            <a:ext cx="5338476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4-class만 예측, 투수 맥락 feature 없음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02476" y="1620000"/>
            <a:ext cx="5554476" cy="396000"/>
          </a:xfrm>
          <a:prstGeom prst="rect">
            <a:avLst/>
          </a:prstGeom>
          <a:solidFill>
            <a:srgbClr val="F8F9FA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0476" y="1638000"/>
            <a:ext cx="5338476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7E22"/>
                </a:solidFill>
              </a:rPr>
              <a:t>MIT Sloan 2025 (Transformer)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0476" y="1818000"/>
            <a:ext cx="5338476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10-class 가능, MDP 비호환 (400-pitch history 필요)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2160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980B9"/>
                </a:solidFill>
              </a:rPr>
              <a:t>연구 목표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000" y="2411999"/>
            <a:ext cx="1404000" cy="324000"/>
          </a:xfrm>
          <a:prstGeom prst="rect">
            <a:avLst/>
          </a:prstGeom>
          <a:solidFill>
            <a:srgbClr val="EBF5FB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000" y="2419200"/>
            <a:ext cx="126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980B9"/>
                </a:solidFill>
              </a:rPr>
              <a:t>① 공정 비교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000" y="2573999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동일 데이터·지표로 두 논문 비교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44000" y="2411999"/>
            <a:ext cx="1404000" cy="324000"/>
          </a:xfrm>
          <a:prstGeom prst="rect">
            <a:avLst/>
          </a:prstGeom>
          <a:solidFill>
            <a:srgbClr val="EBF5FB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6000" y="2419200"/>
            <a:ext cx="126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980B9"/>
                </a:solidFill>
              </a:rPr>
              <a:t>② MDP + 10-class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6000" y="2573999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MDP 호환 유지하면서 10-class 달성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56000" y="2411999"/>
            <a:ext cx="1404000" cy="324000"/>
          </a:xfrm>
          <a:prstGeom prst="rect">
            <a:avLst/>
          </a:prstGeom>
          <a:solidFill>
            <a:srgbClr val="EBF5FB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8000" y="2419200"/>
            <a:ext cx="126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980B9"/>
                </a:solidFill>
              </a:rPr>
              <a:t>③ Collapse 규명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8000" y="2573999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원인 분석 및 해결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논문 포지셔닝: 3-way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3 / 10</a:t>
            </a:r>
          </a:p>
        </p:txBody>
      </p:sp>
      <p:pic>
        <p:nvPicPr>
          <p:cNvPr id="5" name="Picture 4" descr="fig2_paper_positio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756000"/>
            <a:ext cx="11324952" cy="53558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6498000"/>
            <a:ext cx="11324952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7E22"/>
                </a:solidFill>
              </a:rPr>
              <a:t>차별점: Otremba MDP/RL 통합  +  MIT Sloan 10-class 세분화  +  본인 Arsenal Context 58d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데이터 &amp; 핵심 엔지니어링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4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864000"/>
            <a:ext cx="1980000" cy="251999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4000" y="900000"/>
            <a:ext cx="72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980B9"/>
                </a:solidFill>
              </a:rPr>
              <a:t>시즌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9999" y="900000"/>
            <a:ext cx="10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2022 · 2023 · 2024 (3시즌)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170000"/>
            <a:ext cx="1980000" cy="251999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4000" y="1206000"/>
            <a:ext cx="72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980B9"/>
                </a:solidFill>
              </a:rPr>
              <a:t>총 투구 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9999" y="1206000"/>
            <a:ext cx="10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2,983,621 rows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1476000"/>
            <a:ext cx="1980000" cy="251999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000" y="1512000"/>
            <a:ext cx="72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980B9"/>
                </a:solidFill>
              </a:rPr>
              <a:t>Test 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9999" y="1512000"/>
            <a:ext cx="10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353,667–353,776 (2024 H2)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782000"/>
            <a:ext cx="1980000" cy="251999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00" y="1818000"/>
            <a:ext cx="72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980B9"/>
                </a:solidFill>
              </a:rPr>
              <a:t>Feature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9999" y="1818000"/>
            <a:ext cx="10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77d / 87d / 135d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66476" y="864000"/>
            <a:ext cx="5590476" cy="503999"/>
          </a:xfrm>
          <a:prstGeom prst="rect">
            <a:avLst/>
          </a:prstGeom>
          <a:solidFill>
            <a:srgbClr val="F8F9FA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4476" y="900000"/>
            <a:ext cx="5374476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</a:rPr>
              <a:t>① Lazy Loading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4476" y="1080000"/>
            <a:ext cx="5374476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Eager: 72.6 GB → Lazy: 0.25 GB
(290배 절감)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66476" y="1440000"/>
            <a:ext cx="5590476" cy="503999"/>
          </a:xfrm>
          <a:prstGeom prst="rect">
            <a:avLst/>
          </a:prstGeom>
          <a:solidFill>
            <a:srgbClr val="F8F9FA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4476" y="1476000"/>
            <a:ext cx="5374476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980B9"/>
                </a:solidFill>
              </a:rPr>
              <a:t>② Stride=8 최적화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4476" y="1656000"/>
            <a:ext cx="5374476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38시간 → 5시간 (sequence_length=400 유지)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66476" y="2016000"/>
            <a:ext cx="5590476" cy="503999"/>
          </a:xfrm>
          <a:prstGeom prst="rect">
            <a:avLst/>
          </a:prstGeom>
          <a:solidFill>
            <a:srgbClr val="F8F9FA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4476" y="2052000"/>
            <a:ext cx="5374476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7E22"/>
                </a:solidFill>
              </a:rPr>
              <a:t>③ Multi-platform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4476" y="2232000"/>
            <a:ext cx="5374476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CUDA → MPS → CPU 자동 감지 (get_device())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000" y="2196000"/>
            <a:ext cx="11324952" cy="360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0000" y="2213999"/>
            <a:ext cx="180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7E22"/>
                </a:solidFill>
              </a:rPr>
              <a:t>135-dim Feature 구성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0000" y="2286000"/>
            <a:ext cx="11108952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135-dim = 77d (Model B) + 5d UMAP + 1d count_cluster + 32d arsenal_func + 20d arsenal_moment
[0:77] 기존 feature   [77:83] 볼카운트 맥락   [83:135] Pitcher Arsenal 통계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실험 설계 &amp; 공정 비교 환경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5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828000"/>
            <a:ext cx="2020491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000" y="846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2470491" y="828000"/>
            <a:ext cx="2246990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06491" y="846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735481" y="828000"/>
            <a:ext cx="2246990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1481" y="846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Input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472" y="828000"/>
            <a:ext cx="2246990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36472" y="846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Params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65462" y="828000"/>
            <a:ext cx="887996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01462" y="846000"/>
            <a:ext cx="833996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MDP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000" y="1026000"/>
            <a:ext cx="2020491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000" y="1044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LR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70491" y="1026000"/>
            <a:ext cx="2246990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06491" y="1044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Linear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35481" y="1026000"/>
            <a:ext cx="2246990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1481" y="1044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77d / 135d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00472" y="1026000"/>
            <a:ext cx="2246990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36472" y="1044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~770 / ~1350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65462" y="1026000"/>
            <a:ext cx="887996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01462" y="1044000"/>
            <a:ext cx="833996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7AE60"/>
                </a:solidFill>
              </a:rPr>
              <a:t>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1224000"/>
            <a:ext cx="2020491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000" y="1242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LightGBM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70491" y="1224000"/>
            <a:ext cx="2246990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06491" y="1242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Tree (boosting)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35481" y="1224000"/>
            <a:ext cx="2246990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1481" y="1242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77d / 135d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00472" y="1224000"/>
            <a:ext cx="2246990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36472" y="1242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~50K leaves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65462" y="1224000"/>
            <a:ext cx="887996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01462" y="1242000"/>
            <a:ext cx="833996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7AE60"/>
                </a:solidFill>
              </a:rPr>
              <a:t>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2000" y="1422000"/>
            <a:ext cx="2020491" cy="198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8000" y="1440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980B9"/>
                </a:solidFill>
              </a:rPr>
              <a:t>MLP 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70491" y="1422000"/>
            <a:ext cx="2246990" cy="198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06491" y="1440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980B9"/>
                </a:solidFill>
              </a:rPr>
              <a:t>FC [128,128]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35481" y="1422000"/>
            <a:ext cx="2246990" cy="198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71481" y="1440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980B9"/>
                </a:solidFill>
              </a:rPr>
              <a:t>77d / 135d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00472" y="1422000"/>
            <a:ext cx="2246990" cy="198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36472" y="1440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980B9"/>
                </a:solidFill>
              </a:rPr>
              <a:t>~27K / ~32K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65462" y="1422000"/>
            <a:ext cx="887996" cy="198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01462" y="1440000"/>
            <a:ext cx="833996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980B9"/>
                </a:solidFill>
              </a:rPr>
              <a:t>✅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2000" y="1620000"/>
            <a:ext cx="2020491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8000" y="1638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RNN (LSTM)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70491" y="1620000"/>
            <a:ext cx="2246990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06491" y="1638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2-layer LSTM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35481" y="1620000"/>
            <a:ext cx="2246990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71481" y="1638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400×87 seq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00472" y="1620000"/>
            <a:ext cx="2246990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36472" y="1638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~590K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65462" y="1620000"/>
            <a:ext cx="887996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01462" y="1638000"/>
            <a:ext cx="833996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E74C3C"/>
                </a:solidFill>
              </a:rPr>
              <a:t>❌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000" y="1818000"/>
            <a:ext cx="2020491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8000" y="1836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Transformer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70491" y="1818000"/>
            <a:ext cx="2246990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06491" y="1836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12-layer Enc.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35481" y="1818000"/>
            <a:ext cx="2246990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771481" y="1836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400×87 seq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000472" y="1818000"/>
            <a:ext cx="2246990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36472" y="1836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9.7M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65462" y="1818000"/>
            <a:ext cx="887996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01462" y="1836000"/>
            <a:ext cx="833996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E74C3C"/>
                </a:solidFill>
              </a:rPr>
              <a:t>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2000" y="2160000"/>
            <a:ext cx="1132495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C3E50"/>
                </a:solidFill>
              </a:rPr>
              <a:t>공정 비교 원칙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2000" y="2376000"/>
            <a:ext cx="11324952" cy="216000"/>
          </a:xfrm>
          <a:prstGeom prst="rect">
            <a:avLst/>
          </a:prstGeom>
          <a:solidFill>
            <a:srgbClr val="F8F9FA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4000" y="24048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7AE60"/>
                </a:solidFill>
              </a:rPr>
              <a:t>G3 vs G4 (iid)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00000" y="2404800"/>
            <a:ext cx="981295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같은 N (353K), 같은 architecture → context 효과만 비교 ✅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32000" y="2627999"/>
            <a:ext cx="11324952" cy="216000"/>
          </a:xfrm>
          <a:prstGeom prst="rect">
            <a:avLst/>
          </a:prstGeom>
          <a:solidFill>
            <a:srgbClr val="F8F9FA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4000" y="2656799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7AE60"/>
                </a:solidFill>
              </a:rPr>
              <a:t>G5 vs G6' (seq)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800000" y="2656799"/>
            <a:ext cx="981295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같은 N=22,127, drop=False → hybrid 효과 비교 ✅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32000" y="2879998"/>
            <a:ext cx="11324952" cy="216000"/>
          </a:xfrm>
          <a:prstGeom prst="rect">
            <a:avLst/>
          </a:prstGeom>
          <a:solidFill>
            <a:srgbClr val="F8F9FA"/>
          </a:solidFill>
          <a:ln w="1905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4000" y="2908798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67E22"/>
                </a:solidFill>
              </a:rPr>
              <a:t>G4 vs G5 (cross)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800000" y="2908798"/>
            <a:ext cx="981295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N 다름 (iid: 전수, seq: last-pitch-of-AB) → 주의 ⚠️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핵심 발견 1: 10-class i.i.d. Collapse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6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828000"/>
            <a:ext cx="1680742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000" y="846000"/>
            <a:ext cx="1626742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모델 (77d)</a:t>
            </a:r>
          </a:p>
        </p:txBody>
      </p:sp>
      <p:sp>
        <p:nvSpPr>
          <p:cNvPr id="7" name="Rectangle 6"/>
          <p:cNvSpPr/>
          <p:nvPr/>
        </p:nvSpPr>
        <p:spPr>
          <a:xfrm>
            <a:off x="2130742" y="828000"/>
            <a:ext cx="1340994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66742" y="846000"/>
            <a:ext cx="1286994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Top-1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9737" y="828000"/>
            <a:ext cx="1567493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5737" y="846000"/>
            <a:ext cx="1513493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Macro-F1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75230" y="828000"/>
            <a:ext cx="6210723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11230" y="846000"/>
            <a:ext cx="6156723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패턴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1026000"/>
            <a:ext cx="1680742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1044000"/>
            <a:ext cx="1626742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C3E50"/>
                </a:solidFill>
              </a:rPr>
              <a:t>LR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30742" y="1026000"/>
            <a:ext cx="1340994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66742" y="1044000"/>
            <a:ext cx="1286994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74C3C"/>
                </a:solidFill>
              </a:rPr>
              <a:t>41.1%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89737" y="1026000"/>
            <a:ext cx="1567493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5737" y="1044000"/>
            <a:ext cx="151349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74C3C"/>
                </a:solidFill>
              </a:rPr>
              <a:t>5.9%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5230" y="1026000"/>
            <a:ext cx="6210723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11230" y="1044000"/>
            <a:ext cx="615672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Strike만 예측 (97.6%)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000" y="1278000"/>
            <a:ext cx="1680742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000" y="1296000"/>
            <a:ext cx="1626742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C3E50"/>
                </a:solidFill>
              </a:rPr>
              <a:t>LightGBM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30742" y="1278000"/>
            <a:ext cx="1340994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66742" y="1296000"/>
            <a:ext cx="1286994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74C3C"/>
                </a:solidFill>
              </a:rPr>
              <a:t>13.0%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89737" y="1278000"/>
            <a:ext cx="1567493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5737" y="1296000"/>
            <a:ext cx="151349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74C3C"/>
                </a:solidFill>
              </a:rPr>
              <a:t>7.2%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5230" y="1278000"/>
            <a:ext cx="6210723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11230" y="1296000"/>
            <a:ext cx="615672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전 클래스 균등 예측 (역방향 collapse)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000" y="1530000"/>
            <a:ext cx="1680742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8000" y="1548000"/>
            <a:ext cx="1626742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C3E50"/>
                </a:solidFill>
              </a:rPr>
              <a:t>MLP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30742" y="1530000"/>
            <a:ext cx="1340994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66742" y="1548000"/>
            <a:ext cx="1286994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74C3C"/>
                </a:solidFill>
              </a:rPr>
              <a:t>41.1%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89737" y="1530000"/>
            <a:ext cx="1567493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5737" y="1548000"/>
            <a:ext cx="151349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74C3C"/>
                </a:solidFill>
              </a:rPr>
              <a:t>5.8%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75230" y="1530000"/>
            <a:ext cx="6210723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11230" y="1548000"/>
            <a:ext cx="615672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Strike만 예측 (Focal Loss γ=2 무효)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2000" y="1782000"/>
            <a:ext cx="1680742" cy="252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8000" y="1800000"/>
            <a:ext cx="1626742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C3E50"/>
                </a:solidFill>
              </a:rPr>
              <a:t>RNN (seq)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30742" y="1782000"/>
            <a:ext cx="1340994" cy="252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166742" y="1800000"/>
            <a:ext cx="1286994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66.9%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89737" y="1782000"/>
            <a:ext cx="1567493" cy="252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25737" y="1800000"/>
            <a:ext cx="151349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28.8%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75230" y="1782000"/>
            <a:ext cx="6210723" cy="252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11230" y="1800000"/>
            <a:ext cx="615672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7AE60"/>
                </a:solidFill>
              </a:rPr>
              <a:t>정상 ✅ — 400-pitch context 활용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2000" y="2034000"/>
            <a:ext cx="1680742" cy="252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8000" y="2052000"/>
            <a:ext cx="1626742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C3E50"/>
                </a:solidFill>
              </a:rPr>
              <a:t>Transformer (seq)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30742" y="2034000"/>
            <a:ext cx="1340994" cy="252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166742" y="2052000"/>
            <a:ext cx="1286994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67.2%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89737" y="2034000"/>
            <a:ext cx="1567493" cy="252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25737" y="2052000"/>
            <a:ext cx="151349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30.1%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75230" y="2034000"/>
            <a:ext cx="6210723" cy="252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111230" y="2052000"/>
            <a:ext cx="615672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7AE60"/>
                </a:solidFill>
              </a:rPr>
              <a:t>정상 ✅ — 400-pitch context 활용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2000" y="2394000"/>
            <a:ext cx="11324952" cy="432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0000" y="24228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7E22"/>
                </a:solidFill>
              </a:rPr>
              <a:t>왜 Macro-F1이 핵심인가?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0000" y="2592000"/>
            <a:ext cx="11108952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Top-1 41.1%는 나름 성능 있어 보이지만 → Macro-F1 5.8% = random(10%) 이하
= 'Strike 예측기' — class balancing · Focal Loss · sqrt-balanced 모두 무효 → 원인은 feature 부재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SOTA 비교: 객관적 위치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7 / 10</a:t>
            </a:r>
          </a:p>
        </p:txBody>
      </p:sp>
      <p:pic>
        <p:nvPicPr>
          <p:cNvPr id="5" name="Picture 4" descr="fig4_sota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756000"/>
            <a:ext cx="11324952" cy="5052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6498000"/>
            <a:ext cx="11324952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7E22"/>
                </a:solidFill>
              </a:rPr>
              <a:t>※ 10-class 동일 task 기준: LLM 64.0% &lt; MIT Sloan 67.2% ≈ 본인 67.6% (MDP 호환 추가)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핵심 발견 2: Arsenal Context가 Collapse 해소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8 / 10</a:t>
            </a:r>
          </a:p>
        </p:txBody>
      </p:sp>
      <p:pic>
        <p:nvPicPr>
          <p:cNvPr id="5" name="Picture 4" descr="fig1_core_finding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756000"/>
            <a:ext cx="11324952" cy="1368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32000" y="2196000"/>
            <a:ext cx="2473489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8000" y="2214000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3489" y="2196000"/>
            <a:ext cx="2473489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9489" y="2214000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77d (collapse)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14978" y="2196000"/>
            <a:ext cx="2473489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50978" y="2214000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135d (+context)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06468" y="2196000"/>
            <a:ext cx="2020491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42468" y="2214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변화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2394000"/>
            <a:ext cx="2473489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000" y="2412000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LR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3489" y="2394000"/>
            <a:ext cx="2473489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59489" y="2412000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E74C3C"/>
                </a:solidFill>
              </a:rPr>
              <a:t>41.1% 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14978" y="2394000"/>
            <a:ext cx="2473489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50978" y="2412000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7AE60"/>
                </a:solidFill>
              </a:rPr>
              <a:t>62.4%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06468" y="2394000"/>
            <a:ext cx="2020491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42468" y="2412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E67E22"/>
                </a:solidFill>
              </a:rPr>
              <a:t>+21.3pp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2592000"/>
            <a:ext cx="2473489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000" y="2610000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LightGBM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3489" y="2592000"/>
            <a:ext cx="2473489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9489" y="2610000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E74C3C"/>
                </a:solidFill>
              </a:rPr>
              <a:t>13.0% 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14978" y="2592000"/>
            <a:ext cx="2473489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0978" y="2610000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7AE60"/>
                </a:solidFill>
              </a:rPr>
              <a:t>67.3%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06468" y="2592000"/>
            <a:ext cx="2020491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42468" y="2610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E67E22"/>
                </a:solidFill>
              </a:rPr>
              <a:t>+54.3pp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2000" y="2790000"/>
            <a:ext cx="2473489" cy="19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8000" y="2808000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MLP (focal) 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23489" y="2790000"/>
            <a:ext cx="2473489" cy="19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59489" y="2808000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E74C3C"/>
                </a:solidFill>
              </a:rPr>
              <a:t>41.1% 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14978" y="2790000"/>
            <a:ext cx="2473489" cy="19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50978" y="2808000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7AE60"/>
                </a:solidFill>
              </a:rPr>
              <a:t>67.6%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06468" y="2790000"/>
            <a:ext cx="2020491" cy="19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42468" y="2808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E67E22"/>
                </a:solidFill>
              </a:rPr>
              <a:t>+26.5pp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2000" y="3096000"/>
            <a:ext cx="11324952" cy="324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0000" y="3124800"/>
            <a:ext cx="11108952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980B9"/>
                </a:solidFill>
              </a:rPr>
              <a:t>결론: Collapse 원인 = Architecture × Feature 수 아님 = 투수 맥락(pitcher context) 부재
MLP 27K params ≈ Transformer 9.7M params (context 있을 때) — 360배 파라미터 효율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Phase 10 최종: 12-model 전체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9 / 10</a:t>
            </a:r>
          </a:p>
        </p:txBody>
      </p:sp>
      <p:pic>
        <p:nvPicPr>
          <p:cNvPr id="5" name="Picture 4" descr="fig3_phase10_12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756000"/>
            <a:ext cx="11324952" cy="1512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32000" y="2340000"/>
            <a:ext cx="11324952" cy="576000"/>
          </a:xfrm>
          <a:prstGeom prst="rect">
            <a:avLst/>
          </a:prstGeom>
          <a:solidFill>
            <a:srgbClr val="E8F8E8"/>
          </a:solidFill>
          <a:ln w="317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2368800"/>
            <a:ext cx="28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</a:rPr>
              <a:t>✅ 최종 권장: TransitionModelMLP10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574000"/>
            <a:ext cx="11108952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입력: 135d (단일 pitch) | Top-1: 67.6% | Macro-F1: 27.8% | CE: 0.926 | Params: ~32K | 추론: &lt;1ms | MDP 호환: 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결론 &amp; 팀 통합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10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828000"/>
            <a:ext cx="6794971" cy="450000"/>
          </a:xfrm>
          <a:prstGeom prst="rect">
            <a:avLst/>
          </a:prstGeom>
          <a:solidFill>
            <a:srgbClr val="F8F9FA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856800"/>
            <a:ext cx="645522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74C3C"/>
                </a:solidFill>
              </a:rPr>
              <a:t>① Collapse 원인 규명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036800"/>
            <a:ext cx="6455222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77d i.i.d. 모델 collapse = 투수 맥락(pitcher context) 부재
class balancing · Focal Loss 모두 무효 — feature 구조 문제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331999"/>
            <a:ext cx="6794971" cy="450000"/>
          </a:xfrm>
          <a:prstGeom prst="rect">
            <a:avLst/>
          </a:prstGeom>
          <a:solidFill>
            <a:srgbClr val="F8F9FA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0000" y="1360799"/>
            <a:ext cx="645522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7E22"/>
                </a:solidFill>
              </a:rPr>
              <a:t>② Context = Architecture-Agnostic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1540799"/>
            <a:ext cx="6455222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arsenal 58d 추가 → LR +21pp, LGB +54pp, MLP +27pp
MLP 27K params = Transformer 9.7M params (context 있을 때)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1835998"/>
            <a:ext cx="6794971" cy="450000"/>
          </a:xfrm>
          <a:prstGeom prst="rect">
            <a:avLst/>
          </a:prstGeom>
          <a:solidFill>
            <a:srgbClr val="F8F9FA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0000" y="1864798"/>
            <a:ext cx="645522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980B9"/>
                </a:solidFill>
              </a:rPr>
              <a:t>③ Sequence는 Context를 내재 학습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0000" y="2044798"/>
            <a:ext cx="6455222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RNN/Transformer에 static context 추가 → 효과 없음
400-pitch history가 arsenal context를 이미 포함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4719" y="828000"/>
            <a:ext cx="4190232" cy="14400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42719" y="864000"/>
            <a:ext cx="385048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7E22"/>
                </a:solidFill>
              </a:rPr>
              <a:t>rl-agent 통합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42719" y="1080000"/>
            <a:ext cx="3850483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from src.inference.transition_model import (
    TransitionModelMLP10,
    build_135dim_feature
)
model = TransitionModelMLP10(
    'outputs/checkpoints/...best.pt'
)
x = build_135dim_feature(pitch, arsenal)
probs = model.predict(x)  # shape (10,)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2447997"/>
            <a:ext cx="6703923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</a:rPr>
              <a:t>Future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000" y="2663997"/>
            <a:ext cx="6703923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• 타자 arsenal feature → Single~HR 0% 해결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000" y="2843997"/>
            <a:ext cx="6703923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• Small Transformer (2-layer) MDP 호환 탐색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000" y="3023997"/>
            <a:ext cx="6703923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• UMAP 0-fill ablation (50% dropout)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