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80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432000"/>
            <a:ext cx="11324952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67E22"/>
                </a:solidFill>
              </a:rPr>
              <a:t>SmartPitch MDP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000" y="900000"/>
            <a:ext cx="11324952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투구 결과 전이확률 모델 — 비교·검증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1475999"/>
            <a:ext cx="11324952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5A5A6"/>
                </a:solidFill>
              </a:rPr>
              <a:t>RL 환경이 쓸 P(outcome | state, action, context) 추정 + 어떤 모델이 MDP 보상에 적합한지 비교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" y="1980000"/>
            <a:ext cx="1440000" cy="64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4000" y="1998000"/>
            <a:ext cx="12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" y="21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MLB Statcast 2022–2024
2,233,284 train/val/test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7999" y="1980000"/>
            <a:ext cx="1440000" cy="64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9999" y="1998000"/>
            <a:ext cx="12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재현 baseline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9999" y="21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Otremba 2022 MLP
MIT Sloan 2025 Transformer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3998" y="1980000"/>
            <a:ext cx="1440000" cy="648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5998" y="1998000"/>
            <a:ext cx="129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67E22"/>
                </a:solidFill>
              </a:rPr>
              <a:t>핵심 기여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5998" y="2196000"/>
            <a:ext cx="12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baseline 재현·공정 비교
context 효과 검증·RL handoff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6570000"/>
            <a:ext cx="11324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5A5A6"/>
                </a:solidFill>
              </a:rPr>
              <a:t>2026-05-06 ~ 2026-05-27 | Phase 1~10 완료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왜 전이확률인가 + 파트별 기여 분담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2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756000"/>
            <a:ext cx="11324952" cy="306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792000"/>
            <a:ext cx="11108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980B9"/>
                </a:solidFill>
              </a:rPr>
              <a:t>data  →  clustering  →  [ transition-models ]  →  rl-agent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116000"/>
            <a:ext cx="11324952" cy="34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0000" y="1159200"/>
            <a:ext cx="1110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>
                <a:solidFill>
                  <a:srgbClr val="2C3E50"/>
                </a:solidFill>
              </a:rPr>
              <a:t>투구 a  →  P(outcome | s, a) [transition-models]  →  다음 상태 + RE24 보상  →  장기 정책   (정확/보정이 좋을수록 보상·정책이 정확)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1583999"/>
            <a:ext cx="1132495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파트별 기여 분담 (혼동 방지 — 정직하게)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835998"/>
            <a:ext cx="8153965" cy="25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4000" y="18791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handoff_v1.parquet 생성 · 원천 데이터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21965" y="1835998"/>
            <a:ext cx="3134986" cy="25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75965" y="18791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95A5A6"/>
                </a:solidFill>
              </a:rPr>
              <a:t>data 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116798"/>
            <a:ext cx="8153965" cy="25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21599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pitcher arsenal / cluster / UMAP context feature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21965" y="2116798"/>
            <a:ext cx="3134986" cy="25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5965" y="21599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95A5A6"/>
                </a:solidFill>
              </a:rPr>
              <a:t>clustering 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2000" y="2397598"/>
            <a:ext cx="8153965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4000" y="24407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그 context를 77d에 붙여 135d 입력으로 통합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21965" y="2397598"/>
            <a:ext cx="3134986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75965" y="24407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transition-models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678398"/>
            <a:ext cx="8153965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" y="27215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논문 모델(Otremba/MIT Sloan) 재현 + 학습/평가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21965" y="2678398"/>
            <a:ext cx="3134986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75965" y="27215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transition-models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000" y="2959198"/>
            <a:ext cx="8153965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4000" y="30023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77d collapse vs 135d 개선 검증 · 12모델 공정 비교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21965" y="2959198"/>
            <a:ext cx="3134986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5965" y="30023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transition-models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3239998"/>
            <a:ext cx="8153965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000" y="32831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rl-agent용 inference wrapper / handoff 문서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21965" y="3239998"/>
            <a:ext cx="3134986" cy="2592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75965" y="32831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transition-models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000" y="3520798"/>
            <a:ext cx="8153965" cy="25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000" y="3563998"/>
            <a:ext cx="8009965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MLP10H BIP 보정 (보상 왜곡 완화)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21965" y="3520798"/>
            <a:ext cx="3134986" cy="2592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75965" y="3563998"/>
            <a:ext cx="3026986" cy="22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7E22"/>
                </a:solidFill>
              </a:rPr>
              <a:t>rl-agent 통합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2000" y="3837598"/>
            <a:ext cx="11324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7E22"/>
                </a:solidFill>
              </a:rPr>
              <a:t>⚠️ "arsenal feature를 내가 만들었다"가 아니라 → "그 feature가 전이확률 모델 성능을 실제로 개선하는지 검증했다"가 정확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초기 접근: 기존 연구 2개를 baseline으로 재현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2000" y="756000"/>
            <a:ext cx="11324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3E50"/>
                </a:solidFill>
              </a:rPr>
              <a:t>처음엔 후속 RL보다 "투구 결과 확률을 잘 예측하는 모델" 자체에 집중 → 기존 연구를 baseline으로 재현 (새 모델 발명 아님)</a:t>
            </a:r>
          </a:p>
        </p:txBody>
      </p:sp>
      <p:pic>
        <p:nvPicPr>
          <p:cNvPr id="6" name="Picture 5" descr="fig2_paper_pos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48" y="1080000"/>
            <a:ext cx="11304055" cy="534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32000" y="6498000"/>
            <a:ext cx="11324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7E22"/>
                </a:solidFill>
              </a:rPr>
              <a:t>기여: baseline 재현 + 공정 비교 기준 수립 + 상류 clustering context의 전이확률 개선 효과 검증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데이터 &amp; 핵심 엔지니어링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864000"/>
            <a:ext cx="1980000" cy="25199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4000" y="900000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시즌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999" y="900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2022 · 2023 ·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170000"/>
            <a:ext cx="1980000" cy="25199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4000" y="1206000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학습/평가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999" y="1206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2,233,284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1476000"/>
            <a:ext cx="1980000" cy="25199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000" y="1512000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999" y="1512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1,494,188 / 385,320 / 353,776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1782000"/>
            <a:ext cx="1980000" cy="25199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1818000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handoff 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999" y="1818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2,983,621 source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000" y="2088000"/>
            <a:ext cx="1980000" cy="25199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000" y="2124000"/>
            <a:ext cx="72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980B9"/>
                </a:solidFill>
              </a:rPr>
              <a:t>Feature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999" y="2124000"/>
            <a:ext cx="10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77d / 87d / 135d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6476" y="864000"/>
            <a:ext cx="5590476" cy="503999"/>
          </a:xfrm>
          <a:prstGeom prst="rect">
            <a:avLst/>
          </a:prstGeom>
          <a:solidFill>
            <a:srgbClr val="F8F9FA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74476" y="900000"/>
            <a:ext cx="5374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① Lazy Loading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4476" y="10800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Eager: 72.6 GB → Lazy: 0.25 GB
(290배 절감)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66476" y="1440000"/>
            <a:ext cx="5590476" cy="503999"/>
          </a:xfrm>
          <a:prstGeom prst="rect">
            <a:avLst/>
          </a:prstGeom>
          <a:solidFill>
            <a:srgbClr val="F8F9FA"/>
          </a:solidFill>
          <a:ln w="2540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74476" y="1476000"/>
            <a:ext cx="5374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80B9"/>
                </a:solidFill>
              </a:rPr>
              <a:t>② Stride=8 최적화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4476" y="16560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38시간 → 5시간 (sequence_length=400 유지)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6476" y="2016000"/>
            <a:ext cx="5590476" cy="503999"/>
          </a:xfrm>
          <a:prstGeom prst="rect">
            <a:avLst/>
          </a:prstGeom>
          <a:solidFill>
            <a:srgbClr val="F8F9FA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4476" y="2052000"/>
            <a:ext cx="5374476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③ Multi-platform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4476" y="2232000"/>
            <a:ext cx="5374476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CUDA → MPS → CPU 자동 감지 (get_device())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2502000"/>
            <a:ext cx="11324952" cy="360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2519999"/>
            <a:ext cx="1800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135-dim Feature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2592000"/>
            <a:ext cx="11108952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135-dim = 77d (Model B) + 5d UMAP + 1d count_cluster + 32d arsenal_func + 20d arsenal_moment
[0:77] 기존 feature   [77:83] 볼카운트 맥락   [83:135] Pitcher Arsenal 통계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실험 설계 &amp; 공정 비교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828000"/>
            <a:ext cx="2020491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846000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0491" y="828000"/>
            <a:ext cx="2246990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6491" y="846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5481" y="828000"/>
            <a:ext cx="2246990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1481" y="846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472" y="828000"/>
            <a:ext cx="2246990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36472" y="846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Params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65462" y="828000"/>
            <a:ext cx="887996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1462" y="846000"/>
            <a:ext cx="83399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MDP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1026000"/>
            <a:ext cx="2020491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000" y="1044000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LR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70491" y="1026000"/>
            <a:ext cx="2246990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06491" y="1044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Linear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5481" y="1026000"/>
            <a:ext cx="2246990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1481" y="1044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77d / 135d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00472" y="1026000"/>
            <a:ext cx="2246990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36472" y="1044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~770 / ~1350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65462" y="1026000"/>
            <a:ext cx="887996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1462" y="1044000"/>
            <a:ext cx="83399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000" y="1224000"/>
            <a:ext cx="2020491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000" y="1242000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LightGBM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70491" y="1224000"/>
            <a:ext cx="224699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06491" y="1242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Tree (boosting)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35481" y="1224000"/>
            <a:ext cx="224699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1481" y="1242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77d / 135d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00472" y="1224000"/>
            <a:ext cx="224699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36472" y="1242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~50K leaves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65462" y="1224000"/>
            <a:ext cx="887996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01462" y="1242000"/>
            <a:ext cx="83399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000" y="1422000"/>
            <a:ext cx="2020491" cy="198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000" y="1440000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MLP 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70491" y="1422000"/>
            <a:ext cx="2246990" cy="198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06491" y="1440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FC [128,128]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35481" y="1422000"/>
            <a:ext cx="2246990" cy="198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1481" y="1440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77d / 135d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00472" y="1422000"/>
            <a:ext cx="2246990" cy="198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6472" y="1440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~27K / ~32K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65462" y="1422000"/>
            <a:ext cx="887996" cy="198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01462" y="1440000"/>
            <a:ext cx="83399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980B9"/>
                </a:solidFill>
              </a:rPr>
              <a:t>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000" y="1620000"/>
            <a:ext cx="2020491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000" y="1638000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RNN (LSTM)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70491" y="1620000"/>
            <a:ext cx="224699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06491" y="1638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2-layer LSTM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35481" y="1620000"/>
            <a:ext cx="224699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71481" y="1638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400×87 seq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00472" y="1620000"/>
            <a:ext cx="2246990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36472" y="1638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~590K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65462" y="1620000"/>
            <a:ext cx="887996" cy="19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01462" y="1638000"/>
            <a:ext cx="83399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1818000"/>
            <a:ext cx="2020491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000" y="1836000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Transformer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70491" y="1818000"/>
            <a:ext cx="2246990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06491" y="1836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12-layer Enc.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35481" y="1818000"/>
            <a:ext cx="2246990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71481" y="1836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400×87 seq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00472" y="1818000"/>
            <a:ext cx="2246990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36472" y="1836000"/>
            <a:ext cx="219299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9.7M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65462" y="1818000"/>
            <a:ext cx="887996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01462" y="1836000"/>
            <a:ext cx="833996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74C3C"/>
                </a:solidFill>
              </a:rPr>
              <a:t>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2000" y="2160000"/>
            <a:ext cx="11324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3E50"/>
                </a:solidFill>
              </a:rPr>
              <a:t>공정 비교 원칙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2000" y="2376000"/>
            <a:ext cx="11324952" cy="21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4000" y="2404800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G3 vs G4 (iid)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00000" y="2404800"/>
            <a:ext cx="9812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같은 N (353K), 같은 architecture → context 효과만 비교 ✅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32000" y="2627999"/>
            <a:ext cx="11324952" cy="21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4000" y="2656799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G5 vs G6' (seq)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800000" y="2656799"/>
            <a:ext cx="9812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같은 N=22,127, drop=False → hybrid 효과 비교 ✅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32000" y="2879998"/>
            <a:ext cx="11324952" cy="216000"/>
          </a:xfrm>
          <a:prstGeom prst="rect">
            <a:avLst/>
          </a:prstGeom>
          <a:solidFill>
            <a:srgbClr val="F8F9FA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04000" y="2908798"/>
            <a:ext cx="12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G4 vs G5 (cross)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00000" y="2908798"/>
            <a:ext cx="9812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N 다름 (iid: 전수, seq: last-pitch-of-AB) → 주의 ⚠️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핵심 발견 1: 10-class i.i.d. Collapse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6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828000"/>
            <a:ext cx="1680742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846000"/>
            <a:ext cx="1626742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모델 (77d)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30742" y="828000"/>
            <a:ext cx="1340994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66742" y="846000"/>
            <a:ext cx="1286994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Top-1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9737" y="828000"/>
            <a:ext cx="1567493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5737" y="846000"/>
            <a:ext cx="151349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5230" y="828000"/>
            <a:ext cx="6210723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1230" y="846000"/>
            <a:ext cx="6156723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패턴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1026000"/>
            <a:ext cx="1680742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000" y="1044000"/>
            <a:ext cx="162674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</a:rPr>
              <a:t>LR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742" y="1026000"/>
            <a:ext cx="1340994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6742" y="1044000"/>
            <a:ext cx="128699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41.1%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89737" y="1026000"/>
            <a:ext cx="1567493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5737" y="1044000"/>
            <a:ext cx="151349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5.9%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5230" y="1026000"/>
            <a:ext cx="6210723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1230" y="1044000"/>
            <a:ext cx="615672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Strike만 예측 (97.6%)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" y="1278000"/>
            <a:ext cx="1680742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000" y="1296000"/>
            <a:ext cx="162674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</a:rPr>
              <a:t>LightGBM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30742" y="1278000"/>
            <a:ext cx="1340994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66742" y="1296000"/>
            <a:ext cx="128699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13.0%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89737" y="1278000"/>
            <a:ext cx="1567493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5737" y="1296000"/>
            <a:ext cx="151349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7.2%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75230" y="1278000"/>
            <a:ext cx="6210723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230" y="1296000"/>
            <a:ext cx="615672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전 클래스 균등 예측 (역방향 collapse)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000" y="1530000"/>
            <a:ext cx="1680742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000" y="1548000"/>
            <a:ext cx="162674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</a:rPr>
              <a:t>MLP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30742" y="1530000"/>
            <a:ext cx="1340994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66742" y="1548000"/>
            <a:ext cx="128699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41.1%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89737" y="1530000"/>
            <a:ext cx="1567493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5737" y="1548000"/>
            <a:ext cx="151349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74C3C"/>
                </a:solidFill>
              </a:rPr>
              <a:t>5.8%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5230" y="1530000"/>
            <a:ext cx="6210723" cy="252000"/>
          </a:xfrm>
          <a:prstGeom prst="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1230" y="1548000"/>
            <a:ext cx="615672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Strike만 예측 (Focal Loss γ=2 무효)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2000" y="1782000"/>
            <a:ext cx="1680742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8000" y="1800000"/>
            <a:ext cx="162674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</a:rPr>
              <a:t>RNN (seq)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130742" y="1782000"/>
            <a:ext cx="1340994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66742" y="1800000"/>
            <a:ext cx="128699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66.9%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89737" y="1782000"/>
            <a:ext cx="1567493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5737" y="1800000"/>
            <a:ext cx="151349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28.8%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5230" y="1782000"/>
            <a:ext cx="6210723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11230" y="1800000"/>
            <a:ext cx="615672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정상 ✅ — 400-pitch context 활용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2000" y="2034000"/>
            <a:ext cx="1680742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8000" y="2052000"/>
            <a:ext cx="1626742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C3E50"/>
                </a:solidFill>
              </a:rPr>
              <a:t>Transformer (seq)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30742" y="2034000"/>
            <a:ext cx="1340994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66742" y="2052000"/>
            <a:ext cx="1286994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67.2%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89737" y="2034000"/>
            <a:ext cx="1567493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5737" y="2052000"/>
            <a:ext cx="151349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C3E50"/>
                </a:solidFill>
              </a:rPr>
              <a:t>30.1%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75230" y="2034000"/>
            <a:ext cx="6210723" cy="252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11230" y="2052000"/>
            <a:ext cx="615672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7AE60"/>
                </a:solidFill>
              </a:rPr>
              <a:t>정상 ✅ — 400-pitch context 활용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32000" y="2394000"/>
            <a:ext cx="11324952" cy="43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0000" y="24228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왜 Macro-F1이 핵심인가?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0000" y="2592000"/>
            <a:ext cx="11108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Top-1 41.1%는 나름 성능 있어 보이지만 → Macro-F1 5.8% = random(10%) 이하
= 'Strike 예측기' — class balancing · Focal Loss · sqrt-balanced 모두 무효 → 원인은 feature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베이스라인 비교: 객관적 위치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7 / 10</a:t>
            </a:r>
          </a:p>
        </p:txBody>
      </p:sp>
      <p:pic>
        <p:nvPicPr>
          <p:cNvPr id="5" name="Picture 4" descr="fig4_sota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700" y="756000"/>
            <a:ext cx="11211552" cy="563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2000" y="6498000"/>
            <a:ext cx="11324952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67E22"/>
                </a:solidFill>
              </a:rPr>
              <a:t>직접 주장 가능한 비교: 내부 Transformer baseline 67.2% vs MLP10 67.6%; 외부 문헌은 참고용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핵심 발견 2: 상류 context feature가 Collapse 해소 (효과 검증)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8 / 10</a:t>
            </a:r>
          </a:p>
        </p:txBody>
      </p:sp>
      <p:pic>
        <p:nvPicPr>
          <p:cNvPr id="5" name="Picture 4" descr="fig1_core_finding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876" y="756000"/>
            <a:ext cx="4291200" cy="158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32000" y="2411999"/>
            <a:ext cx="2473489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8000" y="2429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모델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3489" y="2411999"/>
            <a:ext cx="2473489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9489" y="2429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77d (collapse)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4978" y="2411999"/>
            <a:ext cx="2473489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50978" y="2429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135d (+context)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6468" y="2411999"/>
            <a:ext cx="2020491" cy="19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2468" y="2429999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변화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000" y="2609999"/>
            <a:ext cx="2473489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000" y="2627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LR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3489" y="2609999"/>
            <a:ext cx="2473489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59489" y="2627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74C3C"/>
                </a:solidFill>
              </a:rPr>
              <a:t>41.1% 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14978" y="2609999"/>
            <a:ext cx="2473489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50978" y="2627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62.4%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06468" y="2609999"/>
            <a:ext cx="2020491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42468" y="2627999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67E22"/>
                </a:solidFill>
              </a:rPr>
              <a:t>+21.3pp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000" y="2807999"/>
            <a:ext cx="2473489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" y="2825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LightGBM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3489" y="2807999"/>
            <a:ext cx="2473489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9489" y="2825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74C3C"/>
                </a:solidFill>
              </a:rPr>
              <a:t>13.0% 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14978" y="2807999"/>
            <a:ext cx="2473489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0978" y="2825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67.3%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6468" y="2807999"/>
            <a:ext cx="2020491" cy="19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42468" y="2825999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67E22"/>
                </a:solidFill>
              </a:rPr>
              <a:t>+54.3pp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2000" y="3005999"/>
            <a:ext cx="2473489" cy="19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000" y="3023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C3E50"/>
                </a:solidFill>
              </a:rPr>
              <a:t>MLP (focal) 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3489" y="3005999"/>
            <a:ext cx="2473489" cy="19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59489" y="3023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74C3C"/>
                </a:solidFill>
              </a:rPr>
              <a:t>41.1% 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4978" y="3005999"/>
            <a:ext cx="2473489" cy="19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50978" y="3023999"/>
            <a:ext cx="2419489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7AE60"/>
                </a:solidFill>
              </a:rPr>
              <a:t>67.6%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6468" y="3005999"/>
            <a:ext cx="2020491" cy="198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42468" y="3023999"/>
            <a:ext cx="1966491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7E22"/>
                </a:solidFill>
              </a:rPr>
              <a:t>+26.5pp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000" y="3311999"/>
            <a:ext cx="11324952" cy="4500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0000" y="3347999"/>
            <a:ext cx="11108952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980B9"/>
                </a:solidFill>
              </a:rPr>
              <a:t>결론: collapse 원인 = architecture·feature 수 아님 = 투수 맥락(context) 부재 (architecture 무관 +21~54pp)
⚠️ 기여 = context feature 생성(❌, clustering 팀)이 아니라, 같은 모델·같은 test set 통제 실험으로 그 효과를 검증(✅)한 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전이확률 → 장기 보상 → RL handoff (MLP10/MLP10H)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9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756000"/>
            <a:ext cx="11324952" cy="54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799200"/>
            <a:ext cx="11108952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>
                <a:solidFill>
                  <a:srgbClr val="2C3E50"/>
                </a:solidFill>
              </a:rPr>
              <a:t>Q(s, a) = Σ_outcome  P(outcome | s, a) · [ RE24_reward + γ·V(s′) ]      reward = RE24(before) − RE24(after) − 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1036800"/>
            <a:ext cx="11108952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980B9"/>
                </a:solidFill>
              </a:rPr>
              <a:t>함의1: Q는 확률의 가중평균 → Top-1보다 확률 보정(CE/Brier)이 핵심   |   함의2: RNN/Transformer는 P(·|history,s,a) → 모든 (s,a) 전이표화 어려움 → MDP엔 단일-step iid 모델이 적합</a:t>
            </a:r>
          </a:p>
        </p:txBody>
      </p:sp>
      <p:pic>
        <p:nvPicPr>
          <p:cNvPr id="8" name="Picture 7" descr="fig3_phase10_12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4016" y="1368000"/>
            <a:ext cx="3700919" cy="133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2000" y="2736000"/>
            <a:ext cx="11324952" cy="720000"/>
          </a:xfrm>
          <a:prstGeom prst="rect">
            <a:avLst/>
          </a:prstGeom>
          <a:solidFill>
            <a:srgbClr val="E8F8E8"/>
          </a:solidFill>
          <a:ln w="317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2764800"/>
            <a:ext cx="11108952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27AE60"/>
                </a:solidFill>
              </a:rPr>
              <a:t>RL handoff 후보 (MLP10이 '더 좋아서'가 아니라 MDP 전이함수 형태에 맞아서)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2959200"/>
            <a:ext cx="11108952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2C3E50"/>
                </a:solidFill>
              </a:rPr>
              <a:t>MLP10  : 135d 단일-step, Top-1 67.6%, Walk/K/HBP 직접 예측 — 단 Single~HR ≈ 0% → Q가 장타 위험을 0으로 봄(보상 왜곡)
MLP10H : 빈 BIP 질량을 empirical BIP table로 재분배해 왜곡 완화 (rl-agent 통합 측 보정)
→ 최종 RL 비교는 같은 환경에서 Model B vs MLP10 vs MLP10H 의 mean reward / per-class 현실성으로 평가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76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32000" y="72000"/>
            <a:ext cx="11324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결론 &amp; 정직한 기여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08952" y="108000"/>
            <a:ext cx="27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95A5A6"/>
                </a:solidFill>
              </a:rPr>
              <a:t>Slide 10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756000"/>
            <a:ext cx="6794971" cy="432000"/>
          </a:xfrm>
          <a:prstGeom prst="rect">
            <a:avLst/>
          </a:prstGeom>
          <a:solidFill>
            <a:srgbClr val="FFF3E0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792000"/>
            <a:ext cx="6455222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2C3E50"/>
                </a:solidFill>
              </a:rPr>
              <a:t>"투구를 잘 예측하는 모델" ≠ "RL 보상 계산에 쓰기 좋은 전이모델"
내 파트 = 후자 관점에서 어떤 입력/모델이 적합한지 객관적으로 가려낸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1296000"/>
            <a:ext cx="6794971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980B9"/>
                </a:solidFill>
              </a:rPr>
              <a:t>transition-models 기여 (과장 없이)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1512000"/>
            <a:ext cx="679497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C3E50"/>
                </a:solidFill>
              </a:rPr>
              <a:t>① 논문 baseline 재현 (Otremba MLP · MIT Sloan Transformer)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735200"/>
            <a:ext cx="679497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C3E50"/>
                </a:solidFill>
              </a:rPr>
              <a:t>② 공정 비교 기준 수립 (Top-1+Macro-F1+CE, 같은 입력조건·test set 그룹)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958400"/>
            <a:ext cx="679497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C3E50"/>
                </a:solidFill>
              </a:rPr>
              <a:t>③ collapse 분석 (77d 41.1% → Macro-F1 5.8% 폭로)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181600"/>
            <a:ext cx="679497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C3E50"/>
                </a:solidFill>
              </a:rPr>
              <a:t>④ 상류 context feature 효과 검증 (+26.5pp, 생성❌ 검증✅)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404800"/>
            <a:ext cx="6794971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0">
                <a:solidFill>
                  <a:srgbClr val="2C3E50"/>
                </a:solidFill>
              </a:rPr>
              <a:t>⑤ RL handoff (MDP 호환 MLP10 + inference wrapper + 문서)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4719" y="828000"/>
            <a:ext cx="4190232" cy="144000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42719" y="864000"/>
            <a:ext cx="3850483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rl-agent 사용 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2719" y="1080000"/>
            <a:ext cx="3850483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FFFFFF"/>
                </a:solidFill>
              </a:rPr>
              <a:t>MDP-VI
  P(s'|s,a) table 직접 precompute
Dyna-Q
  planning에서 transition cache 사용
DQN / DDQN / PPO
  전이표 직접 사용 X
  PitchEnv.step()이 MLP10/MLP10H로
  outcome을 샘플링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" y="2736000"/>
            <a:ext cx="670392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C3E50"/>
                </a:solidFill>
              </a:rPr>
              <a:t>Future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000" y="2952000"/>
            <a:ext cx="670392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• MLP10H RL 비교 강화 → BIP 보상 안정화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" y="3132000"/>
            <a:ext cx="670392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• 타자 arsenal feature → Single~HR 0% 해결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" y="3312000"/>
            <a:ext cx="670392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• Small Transformer (2-layer) MDP 호환 탐색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3492000"/>
            <a:ext cx="6703923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C3E50"/>
                </a:solidFill>
              </a:rPr>
              <a:t>• UMAP 0-fill ablation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