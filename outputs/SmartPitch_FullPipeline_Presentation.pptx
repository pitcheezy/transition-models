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80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288000"/>
            <a:ext cx="11324952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E67E22"/>
                </a:solidFill>
              </a:rPr>
              <a:t>SmartPitch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12000"/>
            <a:ext cx="11324952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투구 결과 예측 → 장기 보상 최대화 추천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080000"/>
            <a:ext cx="11324952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5A5A6"/>
                </a:solidFill>
              </a:rPr>
              <a:t>MLB Statcast 기반 4-stage 파이프라인 | 2계층 베이스라인 비교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440000"/>
            <a:ext cx="1332000" cy="7560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4000" y="1475999"/>
            <a:ext cx="118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7E22"/>
                </a:solidFill>
              </a:rPr>
              <a:t>예측 정확도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000" y="1638000"/>
            <a:ext cx="11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67.6%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000" y="1925999"/>
            <a:ext cx="118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95A5A6"/>
                </a:solidFill>
              </a:rPr>
              <a:t>Top-1 (10-class, MLP10 135d)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72000" y="1440000"/>
            <a:ext cx="1332000" cy="7560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44000" y="1475999"/>
            <a:ext cx="118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</a:rPr>
              <a:t>정책 가치 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44000" y="1638000"/>
            <a:ext cx="11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+0.41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44000" y="1925999"/>
            <a:ext cx="118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95A5A6"/>
                </a:solidFill>
              </a:rPr>
              <a:t>RE24/inning vs Random (MDP-VI)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2000" y="1440000"/>
            <a:ext cx="1332000" cy="7560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4000" y="1475999"/>
            <a:ext cx="118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980B9"/>
                </a:solidFill>
              </a:rPr>
              <a:t>MDP 호환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4000" y="1638000"/>
            <a:ext cx="11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✅ MLP10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4000" y="1925999"/>
            <a:ext cx="118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95A5A6"/>
                </a:solidFill>
              </a:rPr>
              <a:t>단일 pitch, 135-dim 입력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000" y="2268000"/>
            <a:ext cx="11324952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5A5A6"/>
                </a:solidFill>
              </a:rPr>
              <a:t>data  →  clustering  →  transition-models  →  rl-agent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000" y="6588000"/>
            <a:ext cx="11324952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5A5A6"/>
                </a:solidFill>
              </a:rPr>
              <a:t>2026-05 | 전 코드 transition-models repo 내 관리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32952" y="180000"/>
            <a:ext cx="1224000" cy="2232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32952" y="198000"/>
            <a:ext cx="1224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[전체]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72000"/>
            <a:ext cx="9884952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문제 정의 &amp; 기존 접근의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8952" y="108000"/>
            <a:ext cx="1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5A5A6"/>
                </a:solidFill>
              </a:rPr>
              <a:t>Slide 2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32952" y="180000"/>
            <a:ext cx="1224000" cy="2232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32952" y="198000"/>
            <a:ext cx="1224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[전체]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756000"/>
            <a:ext cx="11324952" cy="3240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" y="792000"/>
            <a:ext cx="1110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980B9"/>
                </a:solidFill>
              </a:rPr>
              <a:t>핵심 질문: 어떤 구종 · 위치를 어떤 상황에 던질 때 투수에게 장기적으로 가장 유리한가?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1152000"/>
            <a:ext cx="2246990" cy="19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000" y="1170000"/>
            <a:ext cx="219299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논문 / 방법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6990" y="1152000"/>
            <a:ext cx="2699988" cy="19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32990" y="1170000"/>
            <a:ext cx="2645988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핵심 접근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14978" y="1152000"/>
            <a:ext cx="1793992" cy="19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0978" y="1170000"/>
            <a:ext cx="173999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강점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6971" y="1152000"/>
            <a:ext cx="4285481" cy="19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2971" y="1170000"/>
            <a:ext cx="4231481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한계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1350000"/>
            <a:ext cx="2246990" cy="234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8000" y="1368000"/>
            <a:ext cx="219299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980B9"/>
                </a:solidFill>
              </a:rPr>
              <a:t>Otremba 2022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6990" y="1350000"/>
            <a:ext cx="2699988" cy="23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32990" y="1368000"/>
            <a:ext cx="2645988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3E50"/>
                </a:solidFill>
              </a:rPr>
              <a:t>4-class (Ball/Strike/Foul/InPlay) MLP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14978" y="1350000"/>
            <a:ext cx="1793992" cy="234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50978" y="1368000"/>
            <a:ext cx="1739992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7AE60"/>
                </a:solidFill>
              </a:rPr>
              <a:t>MDP 호환 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6971" y="1350000"/>
            <a:ext cx="4285481" cy="23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2971" y="1368000"/>
            <a:ext cx="4231481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3E50"/>
                </a:solidFill>
              </a:rPr>
              <a:t>10-class 세분화 없음, 투수 맥락 feature 없음 → collapse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2000" y="1584000"/>
            <a:ext cx="2246990" cy="234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8000" y="1602000"/>
            <a:ext cx="219299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8E44AD"/>
                </a:solidFill>
              </a:rPr>
              <a:t>MIT Sloan 2025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96990" y="1584000"/>
            <a:ext cx="2699988" cy="23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32990" y="1602000"/>
            <a:ext cx="2645988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3E50"/>
                </a:solidFill>
              </a:rPr>
              <a:t>12-layer Transformer, 87d × 400 seq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14978" y="1584000"/>
            <a:ext cx="1793992" cy="234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50978" y="1602000"/>
            <a:ext cx="1739992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7AE60"/>
                </a:solidFill>
              </a:rPr>
              <a:t>10-class 예측 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6971" y="1584000"/>
            <a:ext cx="4285481" cy="23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62971" y="1602000"/>
            <a:ext cx="4231481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3E50"/>
                </a:solidFill>
              </a:rPr>
              <a:t>MDP 비호환 — 400-pitch history 필요, 단일 step 불가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2000" y="1818000"/>
            <a:ext cx="2246990" cy="234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8000" y="1836000"/>
            <a:ext cx="219299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95A5A6"/>
                </a:solidFill>
              </a:rPr>
              <a:t>MONEYBaRL 2019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96990" y="1818000"/>
            <a:ext cx="2699988" cy="23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32990" y="1836000"/>
            <a:ext cx="2645988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3E50"/>
                </a:solidFill>
              </a:rPr>
              <a:t>선수 데이터 기반 RL 투구 추천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14978" y="1818000"/>
            <a:ext cx="1793992" cy="234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50978" y="1836000"/>
            <a:ext cx="1739992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7AE60"/>
                </a:solidFill>
              </a:rPr>
              <a:t>RL 시도 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26971" y="1818000"/>
            <a:ext cx="4285481" cy="23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62971" y="1836000"/>
            <a:ext cx="4231481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3E50"/>
                </a:solidFill>
              </a:rPr>
              <a:t>transition probability 명시적 추정 없음, 환경 모델 미공개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2000" y="2177999"/>
            <a:ext cx="11324952" cy="396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000" y="2206799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7E22"/>
                </a:solidFill>
              </a:rPr>
              <a:t>★ 본 프로젝트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20000" y="2206799"/>
            <a:ext cx="10028952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C3E50"/>
                </a:solidFill>
              </a:rPr>
              <a:t>4-repo 파이프라인: 데이터 수집 → 상태 추상화 → 전이확률 추정(10-class, MDP 호환) → RL 정책 학습
2계층 베이스라인: ① 예측 정확도 (같은 test set) ② 정책 가치 (같은 MDP, RE24 보상)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72000"/>
            <a:ext cx="9884952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SmartPitch 4-Stage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8952" y="108000"/>
            <a:ext cx="1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5A5A6"/>
                </a:solidFill>
              </a:rPr>
              <a:t>Slide 3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32952" y="180000"/>
            <a:ext cx="1224000" cy="2232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32952" y="198000"/>
            <a:ext cx="1224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[전체]</a:t>
            </a:r>
          </a:p>
        </p:txBody>
      </p:sp>
      <p:pic>
        <p:nvPicPr>
          <p:cNvPr id="7" name="Picture 6" descr="fig_pipeline_4s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703419"/>
            <a:ext cx="11324952" cy="381116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2000" y="6498000"/>
            <a:ext cx="11324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980B9"/>
                </a:solidFill>
              </a:rPr>
              <a:t>CONTRACT_v1.md (byte-equal 계약)로 4개 repo 간 artifact 인터페이스 고정 — 팀 동시 개발 가능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72000"/>
            <a:ext cx="9884952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Stage 1 — Data: 수집 · 정제 ·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8952" y="108000"/>
            <a:ext cx="1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5A5A6"/>
                </a:solidFill>
              </a:rPr>
              <a:t>Slide 4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32952" y="180000"/>
            <a:ext cx="1224000" cy="2232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32952" y="198000"/>
            <a:ext cx="1224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[data]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756000"/>
            <a:ext cx="2696238" cy="792000"/>
          </a:xfrm>
          <a:prstGeom prst="rect">
            <a:avLst/>
          </a:prstGeom>
          <a:solidFill>
            <a:srgbClr val="F8F9FA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2000" y="756000"/>
            <a:ext cx="2696238" cy="234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6000" y="774000"/>
            <a:ext cx="2588238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pybaseball
Statcast 다운로드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000" y="1007999"/>
            <a:ext cx="2588238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3E50"/>
                </a:solidFill>
              </a:rPr>
              <a:t>2022–2025
4시즌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46238" y="1044000"/>
            <a:ext cx="14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5A5A6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08238" y="756000"/>
            <a:ext cx="2696238" cy="792000"/>
          </a:xfrm>
          <a:prstGeom prst="rect">
            <a:avLst/>
          </a:prstGeom>
          <a:solidFill>
            <a:srgbClr val="F8F9FA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08238" y="756000"/>
            <a:ext cx="2696238" cy="234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62238" y="774000"/>
            <a:ext cx="2588238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정제 (clean)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2238" y="1007999"/>
            <a:ext cx="2588238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3E50"/>
                </a:solidFill>
              </a:rPr>
              <a:t>3.08M → 2.98M
(8 deprecated cols,
truncated_pa 제거)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22476" y="1044000"/>
            <a:ext cx="14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5A5A6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4476" y="756000"/>
            <a:ext cx="2696238" cy="792000"/>
          </a:xfrm>
          <a:prstGeom prst="rect">
            <a:avLst/>
          </a:prstGeom>
          <a:solidFill>
            <a:srgbClr val="F8F9FA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4476" y="756000"/>
            <a:ext cx="2696238" cy="2340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8476" y="774000"/>
            <a:ext cx="2588238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Feature 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8476" y="1007999"/>
            <a:ext cx="2588238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3E50"/>
                </a:solidFill>
              </a:rPr>
              <a:t>15-D z-scored
17 pitch vocab
lefty 미러링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8714" y="1044000"/>
            <a:ext cx="14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5A5A6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60714" y="756000"/>
            <a:ext cx="2696238" cy="792000"/>
          </a:xfrm>
          <a:prstGeom prst="rect">
            <a:avLst/>
          </a:prstGeom>
          <a:solidFill>
            <a:srgbClr val="F8F9FA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60714" y="756000"/>
            <a:ext cx="2696238" cy="234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14714" y="774000"/>
            <a:ext cx="2588238" cy="2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Split &amp; 산출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4714" y="1007999"/>
            <a:ext cx="2588238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3E50"/>
                </a:solidFill>
              </a:rPr>
              <a:t>train=2023
val=2024H1
test=2024H2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1656000"/>
            <a:ext cx="11324952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</a:rPr>
              <a:t>핵심 산출물 (downstream 소비 관계)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2000" y="1872000"/>
            <a:ext cx="3379485" cy="19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8000" y="1890000"/>
            <a:ext cx="3325485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산출물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29485" y="1872000"/>
            <a:ext cx="3719234" cy="19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65485" y="1890000"/>
            <a:ext cx="3665234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내용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66719" y="1872000"/>
            <a:ext cx="3945733" cy="19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02719" y="1890000"/>
            <a:ext cx="3891733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소비처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2000" y="2070000"/>
            <a:ext cx="3379485" cy="19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8000" y="2088000"/>
            <a:ext cx="3325485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980B9"/>
                </a:solidFill>
              </a:rPr>
              <a:t>normalized_{train,val,test}.parquet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29485" y="2070000"/>
            <a:ext cx="3719234" cy="19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65485" y="2088000"/>
            <a:ext cx="3665234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15 z-scored cols + raw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66719" y="2070000"/>
            <a:ext cx="3945733" cy="19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02719" y="2088000"/>
            <a:ext cx="3891733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7E22"/>
                </a:solidFill>
              </a:rPr>
              <a:t>transition-models (학습·평가)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2000" y="2268000"/>
            <a:ext cx="3379485" cy="19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8000" y="2286000"/>
            <a:ext cx="3325485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980B9"/>
                </a:solidFill>
              </a:rPr>
              <a:t>scaler.pkl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29485" y="2268000"/>
            <a:ext cx="3719234" cy="19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65485" y="2286000"/>
            <a:ext cx="3665234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StandardScaler (fit on 2023, n=749,880)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66719" y="2268000"/>
            <a:ext cx="3945733" cy="19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02719" y="2286000"/>
            <a:ext cx="3891733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7E22"/>
                </a:solidFill>
              </a:rPr>
              <a:t>transition-models (byte-equal 정규화)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2000" y="2466000"/>
            <a:ext cx="3379485" cy="19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8000" y="2484000"/>
            <a:ext cx="3325485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980B9"/>
                </a:solidFill>
              </a:rPr>
              <a:t>cluster_input.parquet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29485" y="2466000"/>
            <a:ext cx="3719234" cy="19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65485" y="2484000"/>
            <a:ext cx="3665234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15-D Otremba features + 미러링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66719" y="2466000"/>
            <a:ext cx="3945733" cy="19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02719" y="2484000"/>
            <a:ext cx="3891733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E44AD"/>
                </a:solidFill>
              </a:rPr>
              <a:t>clustering (UMAP 입력)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2000" y="2664000"/>
            <a:ext cx="3379485" cy="19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8000" y="2682000"/>
            <a:ext cx="3325485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980B9"/>
                </a:solidFill>
              </a:rPr>
              <a:t>batter_features.parquet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29485" y="2664000"/>
            <a:ext cx="3719234" cy="19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865485" y="2682000"/>
            <a:ext cx="3665234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vs L/R 29개 통계 × 546 qualified batters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66719" y="2664000"/>
            <a:ext cx="3945733" cy="19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02719" y="2682000"/>
            <a:ext cx="3891733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7AE60"/>
                </a:solidFill>
              </a:rPr>
              <a:t>rl-agent (PitchEnv 상태)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2000" y="2862000"/>
            <a:ext cx="3379485" cy="19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68000" y="2880000"/>
            <a:ext cx="3325485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980B9"/>
                </a:solidFill>
              </a:rPr>
              <a:t>pitcher_pool.parquet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29485" y="2862000"/>
            <a:ext cx="3719234" cy="19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865485" y="2880000"/>
            <a:ext cx="3665234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624 qualified pitchers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566719" y="2862000"/>
            <a:ext cx="3945733" cy="19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602719" y="2880000"/>
            <a:ext cx="3891733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7AE60"/>
                </a:solidFill>
              </a:rPr>
              <a:t>rl-agent, clustering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72000"/>
            <a:ext cx="9884952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Stage 2 — Clustering: MDP 상태 추상화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8952" y="108000"/>
            <a:ext cx="1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5A5A6"/>
                </a:solidFill>
              </a:rPr>
              <a:t>Slide 5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32952" y="180000"/>
            <a:ext cx="1224000" cy="2232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32952" y="198000"/>
            <a:ext cx="1224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[clustering]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756000"/>
            <a:ext cx="2750238" cy="1440000"/>
          </a:xfrm>
          <a:prstGeom prst="rect">
            <a:avLst/>
          </a:prstGeom>
          <a:solidFill>
            <a:srgbClr val="D6EAF8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2000" y="756000"/>
            <a:ext cx="2750238" cy="270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000" y="774000"/>
            <a:ext cx="2678238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① Pitch
UMAP 5D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1062000"/>
            <a:ext cx="2678238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C3E50"/>
                </a:solidFill>
              </a:rPr>
              <a:t>input: 15-D Otremba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1249200"/>
            <a:ext cx="2678238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C3E50"/>
                </a:solidFill>
              </a:rPr>
              <a:t>UMAP (nn=30, min_dist=0.0)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1436400"/>
            <a:ext cx="2678238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C3E50"/>
                </a:solidFill>
              </a:rPr>
              <a:t>→ 5D 연속 임베딩 (no cluster)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000" y="1623600"/>
            <a:ext cx="2678238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C3E50"/>
                </a:solidFill>
              </a:rPr>
              <a:t>HDBSCAN 거부 (2개 or 99개)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000" y="1810800"/>
            <a:ext cx="2678238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C3E50"/>
                </a:solidFill>
              </a:rPr>
              <a:t>L/R Pearson r = 0.9795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0000" y="1962000"/>
            <a:ext cx="2714238" cy="20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000" y="1980000"/>
            <a:ext cx="2678238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</a:rPr>
              <a:t>pitch_embeddings.parquet
umap_5d_reducer.pkl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0238" y="756000"/>
            <a:ext cx="2750238" cy="1440000"/>
          </a:xfrm>
          <a:prstGeom prst="rect">
            <a:avLst/>
          </a:prstGeom>
          <a:solidFill>
            <a:srgbClr val="E8DAEF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0238" y="756000"/>
            <a:ext cx="2750238" cy="2700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26238" y="774000"/>
            <a:ext cx="2678238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② Batter
k=3 (L/R)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26238" y="1062000"/>
            <a:ext cx="2678238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C3E50"/>
                </a:solidFill>
              </a:rPr>
              <a:t>input: UMAP 5D (anchor K=32)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26238" y="1249200"/>
            <a:ext cx="2678238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C3E50"/>
                </a:solidFill>
              </a:rPr>
              <a:t>NMF(10) → KMeans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26238" y="1436400"/>
            <a:ext cx="2678238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C3E50"/>
                </a:solidFill>
              </a:rPr>
              <a:t>k=3 (L: Sil=0.256, R: 0.290)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26238" y="1623600"/>
            <a:ext cx="2678238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C3E50"/>
                </a:solidFill>
              </a:rPr>
              <a:t>608 LHB / 778 RHB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26238" y="1810800"/>
            <a:ext cx="2678238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C3E50"/>
                </a:solidFill>
              </a:rPr>
              <a:t>batter_cluster_id → MDP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08238" y="1962000"/>
            <a:ext cx="2714238" cy="20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26238" y="1980000"/>
            <a:ext cx="2678238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8E44AD"/>
                </a:solidFill>
              </a:rPr>
              <a:t>batter_clusters_vs_{L,R}.parquet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8476" y="756000"/>
            <a:ext cx="2750238" cy="1440000"/>
          </a:xfrm>
          <a:prstGeom prst="rect">
            <a:avLst/>
          </a:prstGeom>
          <a:solidFill>
            <a:srgbClr val="FDEBD0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8476" y="756000"/>
            <a:ext cx="2750238" cy="270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84476" y="774000"/>
            <a:ext cx="2678238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③ Arsenal
k=3 (투수)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4476" y="1062000"/>
            <a:ext cx="2678238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C3E50"/>
                </a:solidFill>
              </a:rPr>
              <a:t>moment 20D + function 32D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84476" y="1249200"/>
            <a:ext cx="2678238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C3E50"/>
                </a:solidFill>
              </a:rPr>
              <a:t>per-pitcher 연속 벡터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84476" y="1436400"/>
            <a:ext cx="2678238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C3E50"/>
                </a:solidFill>
              </a:rPr>
              <a:t>k=3 (Sil func=0.376)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84476" y="1623600"/>
            <a:ext cx="2678238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C3E50"/>
                </a:solidFill>
              </a:rPr>
              <a:t>1,116 pitchers (250+ pitches)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84476" y="1810800"/>
            <a:ext cx="2678238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C3E50"/>
                </a:solidFill>
              </a:rPr>
              <a:t>→ transition-models 58D input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6476" y="1962000"/>
            <a:ext cx="2714238" cy="20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84476" y="1980000"/>
            <a:ext cx="2678238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</a:rPr>
              <a:t>arsenal_features_v1.parquet
arsenal_groups_v1.parquet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06714" y="756000"/>
            <a:ext cx="2750238" cy="1440000"/>
          </a:xfrm>
          <a:prstGeom prst="rect">
            <a:avLst/>
          </a:prstGeom>
          <a:solidFill>
            <a:srgbClr val="D5F5E3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06714" y="756000"/>
            <a:ext cx="2750238" cy="270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42714" y="774000"/>
            <a:ext cx="2678238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④ Count
k=4 (Ward)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42714" y="1062000"/>
            <a:ext cx="2678238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C3E50"/>
                </a:solidFill>
              </a:rPr>
              <a:t>12 ball-strike counts → 4 groups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42714" y="1249200"/>
            <a:ext cx="2678238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C3E50"/>
                </a:solidFill>
              </a:rPr>
              <a:t>Ward hierarchical clustering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42714" y="1436400"/>
            <a:ext cx="2678238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C3E50"/>
                </a:solidFill>
              </a:rPr>
              <a:t>G0 투수유리 / G1 초구·균형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42714" y="1623600"/>
            <a:ext cx="2678238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C3E50"/>
                </a:solidFill>
              </a:rPr>
              <a:t>G2 풀카운트 / G3 3-0 (singleton)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42714" y="1810800"/>
            <a:ext cx="2678238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C3E50"/>
                </a:solidFill>
              </a:rPr>
              <a:t>count_cluster_id → MDP state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24714" y="1962000"/>
            <a:ext cx="2714238" cy="20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42714" y="1980000"/>
            <a:ext cx="2678238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27AE60"/>
                </a:solidFill>
              </a:rPr>
              <a:t>count_clusters_v1.parquet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2000" y="2286000"/>
            <a:ext cx="11324952" cy="288000"/>
          </a:xfrm>
          <a:prstGeom prst="rect">
            <a:avLst/>
          </a:prstGeom>
          <a:solidFill>
            <a:srgbClr val="FD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0" y="2322000"/>
            <a:ext cx="11108952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7E22"/>
                </a:solidFill>
              </a:rPr>
              <a:t>핵심 설계: batter_anchors_v1.pkl (K=32 codebook) — Batter/Arsenal/Count 세 track이 동일 기하학 공간 공유 → 정합성 보장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2000" y="2610000"/>
            <a:ext cx="1132495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C3E50"/>
                </a:solidFill>
              </a:rPr>
              <a:t>MDP 상태 소비: batter_cluster_id + count_cluster_id (이산) · pitcher arsenal_features_v1 (연속 → 58D context)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72000"/>
            <a:ext cx="9884952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Stage 3 — Transition Model: P(outcome | state, action, context)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8952" y="108000"/>
            <a:ext cx="1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5A5A6"/>
                </a:solidFill>
              </a:rPr>
              <a:t>Slide 6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32952" y="180000"/>
            <a:ext cx="1224000" cy="223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32952" y="198000"/>
            <a:ext cx="1224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[transition-models]</a:t>
            </a:r>
          </a:p>
        </p:txBody>
      </p:sp>
      <p:pic>
        <p:nvPicPr>
          <p:cNvPr id="7" name="Picture 6" descr="fig1_core_finding_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2367202"/>
            <a:ext cx="6825813" cy="25195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69592" y="756000"/>
            <a:ext cx="468735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</a:rPr>
              <a:t>10-class 분류 목표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69592" y="972000"/>
            <a:ext cx="468735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Ball / Strike / Single / Double
Triple / HR / FieldOut
Strikeout / Walk / HBP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69592" y="1440000"/>
            <a:ext cx="468735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</a:rPr>
              <a:t>입력 feature 진화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69592" y="1638000"/>
            <a:ext cx="2578047" cy="306000"/>
          </a:xfrm>
          <a:prstGeom prst="rect">
            <a:avLst/>
          </a:prstGeom>
          <a:solidFill>
            <a:srgbClr val="F8F9FA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23592" y="1656000"/>
            <a:ext cx="2343679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980B9"/>
                </a:solidFill>
              </a:rPr>
              <a:t>77d (Otremba)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23592" y="1800000"/>
            <a:ext cx="2343679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C3E50"/>
                </a:solidFill>
              </a:rPr>
              <a:t>단일 pitch
물리 feature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88260" y="1638000"/>
            <a:ext cx="1968691" cy="306000"/>
          </a:xfrm>
          <a:prstGeom prst="rect">
            <a:avLst/>
          </a:prstGeom>
          <a:solidFill>
            <a:srgbClr val="F8F9FA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24260" y="1674000"/>
            <a:ext cx="1781196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74C3C"/>
                </a:solidFill>
              </a:rPr>
              <a:t>collapse
41.1%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69592" y="1998000"/>
            <a:ext cx="2578047" cy="306000"/>
          </a:xfrm>
          <a:prstGeom prst="rect">
            <a:avLst/>
          </a:prstGeom>
          <a:solidFill>
            <a:srgbClr val="F8F9FA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23592" y="2016000"/>
            <a:ext cx="2343679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E44AD"/>
                </a:solidFill>
              </a:rPr>
              <a:t>87d × 400 seq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23592" y="2160000"/>
            <a:ext cx="2343679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C3E50"/>
                </a:solidFill>
              </a:rPr>
              <a:t>MIT-Sloan
Transformer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88260" y="1998000"/>
            <a:ext cx="1968691" cy="306000"/>
          </a:xfrm>
          <a:prstGeom prst="rect">
            <a:avLst/>
          </a:prstGeom>
          <a:solidFill>
            <a:srgbClr val="F8F9FA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4260" y="2034000"/>
            <a:ext cx="1781196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C3E50"/>
                </a:solidFill>
              </a:rPr>
              <a:t>MDP 불가
67.2%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69592" y="2358000"/>
            <a:ext cx="2578047" cy="306000"/>
          </a:xfrm>
          <a:prstGeom prst="rect">
            <a:avLst/>
          </a:prstGeom>
          <a:solidFill>
            <a:srgbClr val="F8F9FA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3592" y="2376000"/>
            <a:ext cx="2343679" cy="15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67E22"/>
                </a:solidFill>
              </a:rPr>
              <a:t>135d (ours) 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3592" y="2520000"/>
            <a:ext cx="2343679" cy="12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C3E50"/>
                </a:solidFill>
              </a:rPr>
              <a:t>77d + arsenal
58d context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88260" y="2358000"/>
            <a:ext cx="1968691" cy="3060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24260" y="2394000"/>
            <a:ext cx="1781196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MDP 호환
67.6%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69592" y="2790000"/>
            <a:ext cx="4687359" cy="396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41592" y="2808000"/>
            <a:ext cx="454335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7E22"/>
                </a:solidFill>
              </a:rPr>
              <a:t>핵심 발견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41592" y="2962800"/>
            <a:ext cx="454335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Collapse ≠ feature 수 부족
= pitcher context (arsenal 58D) 부재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72000"/>
            <a:ext cx="9884952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베이스라인 비교 ① — 예측 정확도 (동일 10-class · 동일 test set)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8952" y="108000"/>
            <a:ext cx="1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5A5A6"/>
                </a:solidFill>
              </a:rPr>
              <a:t>Slide 7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32952" y="180000"/>
            <a:ext cx="1224000" cy="223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32952" y="198000"/>
            <a:ext cx="1224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[transition-models]</a:t>
            </a:r>
          </a:p>
        </p:txBody>
      </p:sp>
      <p:pic>
        <p:nvPicPr>
          <p:cNvPr id="7" name="Picture 6" descr="fig4_sota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880" y="756000"/>
            <a:ext cx="11283192" cy="567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2000" y="6462000"/>
            <a:ext cx="11324952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</a:rPr>
              <a:t>직접 비교: MLP 77d(collapse) 41.1% → Transformer 67.2% → MLP10 135d(ours) 67.6% — 동급, MDP 호환 유지
외부 RF/XGB/LLM은 다른 task·다른 class 정의 → 회색 참고용 (직접 우열 비교 금지)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72000"/>
            <a:ext cx="9884952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Stage 4 — MDP + RL Agent: 장기 보상 최적 정책 학습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8952" y="108000"/>
            <a:ext cx="1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5A5A6"/>
                </a:solidFill>
              </a:rPr>
              <a:t>Slide 8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32952" y="180000"/>
            <a:ext cx="1224000" cy="223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32952" y="198000"/>
            <a:ext cx="1224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[rl-agent]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756000"/>
            <a:ext cx="5363138" cy="11520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" y="792000"/>
            <a:ext cx="499747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AE60"/>
                </a:solidFill>
              </a:rPr>
              <a:t>MDP 정의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007999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67E22"/>
                </a:solidFill>
              </a:rPr>
              <a:t>State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9999" y="1007999"/>
            <a:ext cx="475369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(balls, strikes, outs, runners,
batter_cluster, pitcher_cluster)
|S| = 4×3×3×8×3×4 = 9,216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1277999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67E22"/>
                </a:solidFill>
              </a:rPr>
              <a:t>Action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9999" y="1277999"/>
            <a:ext cx="475369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(pitch_type × zone)
9 types × 13 zones = 117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1547999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67E22"/>
                </a:solidFill>
              </a:rPr>
              <a:t>Reward 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9999" y="1547999"/>
            <a:ext cx="475369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RE24(prev) - RE24(next) - runs
+ count-shaping (Ng et al. 1999)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1817999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67E22"/>
                </a:solidFill>
              </a:rPr>
              <a:t>Discount 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9999" y="1817999"/>
            <a:ext cx="475369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0.99 | 3 outs → episode 종료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06917" y="756000"/>
            <a:ext cx="1335007" cy="19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42917" y="774000"/>
            <a:ext cx="1281007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알고리즘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59925" y="756000"/>
            <a:ext cx="2934016" cy="19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925" y="774000"/>
            <a:ext cx="2880016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TM 소비 방식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11941" y="756000"/>
            <a:ext cx="1704009" cy="19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47941" y="774000"/>
            <a:ext cx="165000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결과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06917" y="954000"/>
            <a:ext cx="1335007" cy="23400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42917" y="972000"/>
            <a:ext cx="1281007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7AE60"/>
                </a:solidFill>
              </a:rPr>
              <a:t>MDP-VI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59925" y="954000"/>
            <a:ext cx="2934016" cy="23400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925" y="972000"/>
            <a:ext cx="2880016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P(s'|s,a) table 전체 precompute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11941" y="954000"/>
            <a:ext cx="1704009" cy="23400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7941" y="972000"/>
            <a:ext cx="165000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7AE60"/>
                </a:solidFill>
              </a:rPr>
              <a:t>✅ model-based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06917" y="1188000"/>
            <a:ext cx="1335007" cy="23400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42917" y="1206000"/>
            <a:ext cx="1281007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7AE60"/>
                </a:solidFill>
              </a:rPr>
              <a:t>Dyna-Q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59925" y="1188000"/>
            <a:ext cx="2934016" cy="23400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95925" y="1206000"/>
            <a:ext cx="2880016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TM 기반 Bellman 업데이트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11941" y="1188000"/>
            <a:ext cx="1704009" cy="23400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47941" y="1206000"/>
            <a:ext cx="165000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7AE60"/>
                </a:solidFill>
              </a:rPr>
              <a:t>✅ model-based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06917" y="1422000"/>
            <a:ext cx="1335007" cy="234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42917" y="1440000"/>
            <a:ext cx="1281007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5A5A6"/>
                </a:solidFill>
              </a:rPr>
              <a:t>DQN/DDQN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59925" y="1422000"/>
            <a:ext cx="2934016" cy="234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95925" y="1440000"/>
            <a:ext cx="2880016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env.step()으로 TM 샘플링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911941" y="1422000"/>
            <a:ext cx="1704009" cy="234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47941" y="1440000"/>
            <a:ext cx="165000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5A5A6"/>
                </a:solidFill>
              </a:rPr>
              <a:t>△ model-free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06917" y="1656000"/>
            <a:ext cx="1335007" cy="234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42917" y="1674000"/>
            <a:ext cx="1281007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5A5A6"/>
                </a:solidFill>
              </a:rPr>
              <a:t>PPO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59925" y="1656000"/>
            <a:ext cx="2934016" cy="234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95925" y="1674000"/>
            <a:ext cx="2880016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env.step()으로 TM 샘플링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911941" y="1656000"/>
            <a:ext cx="1704009" cy="234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47941" y="1674000"/>
            <a:ext cx="165000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5A5A6"/>
                </a:solidFill>
              </a:rPr>
              <a:t>△ model-free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06917" y="1890000"/>
            <a:ext cx="1335007" cy="23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42917" y="1908000"/>
            <a:ext cx="1281007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5A5A6"/>
                </a:solidFill>
              </a:rPr>
              <a:t>Random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59925" y="1890000"/>
            <a:ext cx="2934016" cy="23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95925" y="1908000"/>
            <a:ext cx="2880016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911941" y="1890000"/>
            <a:ext cx="1704009" cy="23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47941" y="1908000"/>
            <a:ext cx="1650009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5A5A6"/>
                </a:solidFill>
              </a:rPr>
              <a:t>baseline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06917" y="2124000"/>
            <a:ext cx="6150034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3E50"/>
                </a:solidFill>
              </a:rPr>
              <a:t>출력 형식: pitch_type + zone → 예) 'FF-Z5' (4-seam fastball, zone 5)
MDP-VI 정책: policy[state_idx] = argmax_a Q[s,a] | 추론 레이턴시 &lt; 1ms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2000" y="2520000"/>
            <a:ext cx="11324952" cy="3060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0000" y="2556000"/>
            <a:ext cx="1110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980B9"/>
                </a:solidFill>
              </a:rPr>
              <a:t>MDP 장점: 단순 확률 예측 모델과 달리 장기적 기대 보상(Expected RE24/inning)을 명시적으로 최적화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72000"/>
            <a:ext cx="9884952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베이스라인 비교 ② — 정책 가치 RE24/inning (동일 MDP, n=1,000 ep)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8952" y="108000"/>
            <a:ext cx="1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5A5A6"/>
                </a:solidFill>
              </a:rPr>
              <a:t>Slide 9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9254952" y="180000"/>
            <a:ext cx="1224000" cy="223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54952" y="198000"/>
            <a:ext cx="1224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[rl-agent]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32952" y="180000"/>
            <a:ext cx="1224000" cy="223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32952" y="198000"/>
            <a:ext cx="1224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[transition-models]</a:t>
            </a:r>
          </a:p>
        </p:txBody>
      </p:sp>
      <p:pic>
        <p:nvPicPr>
          <p:cNvPr id="9" name="Picture 8" descr="fig_rl_rewar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386796"/>
            <a:ext cx="11324952" cy="43364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2000" y="6462000"/>
            <a:ext cx="11324952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2C3E50"/>
                </a:solidFill>
              </a:rPr>
              <a:t>핵심: MDP-VI (MLP10) +0.121 vs Random -0.290 → Δ = +0.41 RE24/inning | DQN·DDQN·PPO는 Random과 통계적 무차이 (reward SNR ≈ 0.02, model-free 붕괴) → model-based RL 필수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72000"/>
            <a:ext cx="9884952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결론 · 기여 · 한계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8952" y="108000"/>
            <a:ext cx="1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5A5A6"/>
                </a:solidFill>
              </a:rPr>
              <a:t>Slide 10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32952" y="180000"/>
            <a:ext cx="1224000" cy="2232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32952" y="198000"/>
            <a:ext cx="1224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</a:rPr>
              <a:t>[전체]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756000"/>
            <a:ext cx="3678984" cy="648000"/>
          </a:xfrm>
          <a:prstGeom prst="rect">
            <a:avLst/>
          </a:prstGeom>
          <a:solidFill>
            <a:srgbClr val="F8F9FA"/>
          </a:solidFill>
          <a:ln w="317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2000" y="756000"/>
            <a:ext cx="3678984" cy="216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6000" y="777600"/>
            <a:ext cx="3570984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① 4-repo 통합 파이프라인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000" y="990000"/>
            <a:ext cx="3570984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3E50"/>
                </a:solidFill>
              </a:rPr>
              <a:t>byte-equal CONTRACT_v1 계약
팀 동시 개발 + 재현성 보장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4984" y="756000"/>
            <a:ext cx="3678984" cy="648000"/>
          </a:xfrm>
          <a:prstGeom prst="rect">
            <a:avLst/>
          </a:prstGeom>
          <a:solidFill>
            <a:srgbClr val="F8F9FA"/>
          </a:solidFill>
          <a:ln w="317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4984" y="756000"/>
            <a:ext cx="3678984" cy="216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8984" y="777600"/>
            <a:ext cx="3570984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② 10-class Collapse → 135d 돌파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8984" y="990000"/>
            <a:ext cx="3570984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3E50"/>
                </a:solidFill>
              </a:rPr>
              <a:t>77d 41.1% → 135d 67.6% (+26.5pp)
MDP 호환 유지 — arsenal 58D 해결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77968" y="756000"/>
            <a:ext cx="3678984" cy="648000"/>
          </a:xfrm>
          <a:prstGeom prst="rect">
            <a:avLst/>
          </a:prstGeom>
          <a:solidFill>
            <a:srgbClr val="F8F9FA"/>
          </a:solidFill>
          <a:ln w="317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77968" y="756000"/>
            <a:ext cx="3678984" cy="216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1968" y="777600"/>
            <a:ext cx="3570984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③ Model-based RL 우월성 입증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1968" y="990000"/>
            <a:ext cx="3570984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C3E50"/>
                </a:solidFill>
              </a:rPr>
              <a:t>MDP-VI Δ = +0.41 RE24/inning vs Random
DQN·PPO·Random ≈ 무차이 (SNR 부족)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000" y="1493999"/>
            <a:ext cx="1132495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74C3C"/>
                </a:solidFill>
              </a:rPr>
              <a:t>한계 (정직한 평가)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1691999"/>
            <a:ext cx="11324952" cy="216000"/>
          </a:xfrm>
          <a:prstGeom prst="rect">
            <a:avLst/>
          </a:prstGeom>
          <a:solidFill>
            <a:srgbClr val="FFEBEB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4000" y="1720799"/>
            <a:ext cx="1118095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▸ 실제 MLB 투수 imitation 베이스라인 미구현 — 'RL 정책 vs 실제 투수 선택' 직접 비교 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1936799"/>
            <a:ext cx="11324952" cy="216000"/>
          </a:xfrm>
          <a:prstGeom prst="rect">
            <a:avLst/>
          </a:prstGeom>
          <a:solidFill>
            <a:srgbClr val="FFEBEB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4000" y="1965599"/>
            <a:ext cx="1118095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▸ Single~HR per-class 0% — batter context feature(batter_func/moment) 없음, 구조적 한계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2181599"/>
            <a:ext cx="11324952" cy="216000"/>
          </a:xfrm>
          <a:prstGeom prst="rect">
            <a:avLst/>
          </a:prstGeom>
          <a:solidFill>
            <a:srgbClr val="FFEBEB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4000" y="2210399"/>
            <a:ext cx="1118095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▸ Arsenal feature가 4시즌 전체(2022–2025) 집계 — train-only 분리 검증 필요 (잠재적 leakage 가능)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2498399"/>
            <a:ext cx="1132495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</a:rPr>
              <a:t>Future Work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2000" y="2696399"/>
            <a:ext cx="3702984" cy="234000"/>
          </a:xfrm>
          <a:prstGeom prst="rect">
            <a:avLst/>
          </a:prstGeom>
          <a:solidFill>
            <a:srgbClr val="EBF5FB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000" y="2725199"/>
            <a:ext cx="3594984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batter_func/moment 추가 → Single~HR &gt; 5% 목표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42984" y="2696399"/>
            <a:ext cx="3702984" cy="234000"/>
          </a:xfrm>
          <a:prstGeom prst="rect">
            <a:avLst/>
          </a:prstGeom>
          <a:solidFill>
            <a:srgbClr val="EBF5FB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6984" y="2725199"/>
            <a:ext cx="3594984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실제 MLB 투수 선택 vs RL 정책 RE24 비교 (imitation baseline)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53968" y="2696399"/>
            <a:ext cx="3702984" cy="234000"/>
          </a:xfrm>
          <a:prstGeom prst="rect">
            <a:avLst/>
          </a:prstGeom>
          <a:solidFill>
            <a:srgbClr val="EBF5FB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07968" y="2725199"/>
            <a:ext cx="3594984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3E50"/>
                </a:solidFill>
              </a:rPr>
              <a:t>train-only arsenal aggregation 재검증 (leakage 제거)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