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맑은 고딕"/>
              </a:rPr>
              <a:t>10-Class Pitch Outcome</a:t>
            </a:r>
          </a:p>
          <a:p>
            <a:pPr algn="ctr"/>
            <a:r>
              <a:rPr sz="4200" b="1" i="0">
                <a:solidFill>
                  <a:srgbClr val="FFFFFF"/>
                </a:solidFill>
                <a:latin typeface="맑은 고딕"/>
              </a:rPr>
              <a:t>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BC4D4"/>
                </a:solidFill>
                <a:latin typeface="맑은 고딕"/>
              </a:rPr>
              <a:t>6개 모델 아키텍처 × 10-class 분류 성능 비교</a:t>
            </a:r>
          </a:p>
          <a:p>
            <a:pPr algn="ctr"/>
            <a:r>
              <a:rPr sz="2000" b="0" i="0">
                <a:solidFill>
                  <a:srgbClr val="ABC4D4"/>
                </a:solidFill>
                <a:latin typeface="맑은 고딕"/>
              </a:rPr>
              <a:t>MLB Statcast 2022-2024 (3시즌, ~149만 투구)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59BAB"/>
                </a:solidFill>
                <a:latin typeface="맑은 고딕"/>
              </a:rPr>
              <a:t>SmartPitch MDP Transition Probability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6개 모델 10-Class 성능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447.5" y="109728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188720"/>
                <a:gridCol w="1188720"/>
                <a:gridCol w="1188720"/>
                <a:gridCol w="914400"/>
                <a:gridCol w="3291840"/>
              </a:tblGrid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Input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Top-1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Top-3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CE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MDP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LR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77d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41.1%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86.2%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1.614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collapse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LightGBM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77d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13.0%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48.1%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2.087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역collapse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MLP (77d)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77d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41.1%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86.2%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1.470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collapse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C3E50"/>
                          </a:solidFill>
                          <a:latin typeface="맑은 고딕"/>
                        </a:rPr>
                        <a:t>MLP 135d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C3E50"/>
                          </a:solidFill>
                          <a:latin typeface="맑은 고딕"/>
                        </a:rPr>
                        <a:t>135d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C3E50"/>
                          </a:solidFill>
                          <a:latin typeface="맑은 고딕"/>
                        </a:rPr>
                        <a:t>67.6%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C3E50"/>
                          </a:solidFill>
                          <a:latin typeface="맑은 고딕"/>
                        </a:rPr>
                        <a:t>94.8%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C3E50"/>
                          </a:solidFill>
                          <a:latin typeface="맑은 고딕"/>
                        </a:rPr>
                        <a:t>0.926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C3E50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C3E50"/>
                          </a:solidFill>
                          <a:latin typeface="맑은 고딕"/>
                        </a:rPr>
                        <a:t>MDP 최선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RNN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400×87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66.9%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94.8%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0.873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❌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sequence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Transformer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400×87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67.2%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94.7%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0.868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❌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sequence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C3E50"/>
                </a:solidFill>
                <a:latin typeface="맑은 고딕"/>
              </a:rPr>
              <a:t>빨강 배경 = collapse (다수 클래스만 예측)  |  초록 배경 = MDP 호환 최선 모델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77-dim i.i.d. 모델의 Collapse 현상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10개 클래스 분포 (불균형):</a:t>
            </a:r>
          </a:p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  Strike    41.11%  ← 다수 클래스</a:t>
            </a:r>
          </a:p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  Ball      33.31%</a:t>
            </a:r>
          </a:p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  FieldOut  11.75%</a:t>
            </a:r>
          </a:p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  Strikeout  5.89%</a:t>
            </a:r>
          </a:p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  Single     3.64%</a:t>
            </a:r>
          </a:p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  Walk       2.04%</a:t>
            </a:r>
          </a:p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  Double     1.09%</a:t>
            </a:r>
          </a:p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  HomeRun    0.81%</a:t>
            </a:r>
          </a:p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  HBP        0.28%</a:t>
            </a:r>
          </a:p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  Triple     0.09%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188720"/>
            <a:ext cx="6217920" cy="1463040"/>
          </a:xfrm>
          <a:prstGeom prst="rect">
            <a:avLst/>
          </a:prstGeom>
          <a:solidFill>
            <a:srgbClr val="FFFFFF"/>
          </a:solidFill>
          <a:ln w="317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26187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  <a:latin typeface="맑은 고딕"/>
              </a:rPr>
              <a:t>Class balancing 미적용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69164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맑은 고딕"/>
              </a:rPr>
              <a:t>LR/MLP → Strike만 예측 (41.1%)</a:t>
            </a:r>
          </a:p>
          <a:p>
            <a:pPr algn="l"/>
            <a:r>
              <a:rPr sz="1500" b="0" i="0">
                <a:solidFill>
                  <a:srgbClr val="2C3E50"/>
                </a:solidFill>
                <a:latin typeface="맑은 고딕"/>
              </a:rPr>
              <a:t>Macro-F1 = 0.06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2880360"/>
            <a:ext cx="6217920" cy="1463040"/>
          </a:xfrm>
          <a:prstGeom prst="rect">
            <a:avLst/>
          </a:prstGeom>
          <a:solidFill>
            <a:srgbClr val="FFFFFF"/>
          </a:solidFill>
          <a:ln w="317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295351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7E22"/>
                </a:solidFill>
                <a:latin typeface="맑은 고딕"/>
              </a:rPr>
              <a:t>Class balancing 과적용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38328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맑은 고딕"/>
              </a:rPr>
              <a:t>LightGBM → 전 클래스 균등 (13.0%)</a:t>
            </a:r>
          </a:p>
          <a:p>
            <a:pPr algn="l"/>
            <a:r>
              <a:rPr sz="1500" b="0" i="0">
                <a:solidFill>
                  <a:srgbClr val="2C3E50"/>
                </a:solidFill>
                <a:latin typeface="맑은 고딕"/>
              </a:rPr>
              <a:t>inverse-freq 과보정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4572000"/>
            <a:ext cx="6217920" cy="1463040"/>
          </a:xfrm>
          <a:prstGeom prst="rect">
            <a:avLst/>
          </a:prstGeom>
          <a:solidFill>
            <a:srgbClr val="FFFFFF"/>
          </a:solidFill>
          <a:ln w="317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464515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7AE60"/>
                </a:solidFill>
                <a:latin typeface="맑은 고딕"/>
              </a:rPr>
              <a:t>해결: Context 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507492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맑은 고딕"/>
              </a:rPr>
              <a:t>Context 58d → 41.1% → 67.6%</a:t>
            </a:r>
          </a:p>
          <a:p>
            <a:pPr algn="l"/>
            <a:r>
              <a:rPr sz="1500" b="0" i="0">
                <a:solidFill>
                  <a:srgbClr val="2C3E50"/>
                </a:solidFill>
                <a:latin typeface="맑은 고딕"/>
              </a:rPr>
              <a:t>+26.5pp 상승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74C3C"/>
                </a:solidFill>
                <a:latin typeface="맑은 고딕"/>
              </a:rPr>
              <a:t>핵심: feature 부족이 원인 — class balancing, Focal Loss 등 기법으로는 해결 불가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Per-class Top-1 Accuracy (%)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2287.5" y="1005840"/>
          <a:ext cx="106070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1097280"/>
                <a:gridCol w="1097280"/>
                <a:gridCol w="1371600"/>
                <a:gridCol w="1463040"/>
                <a:gridCol w="146304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클래스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비율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LR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LGB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MLP 77d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MLP 135d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RNN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Transformer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Ball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33.31%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88.4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87.2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87.6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Strike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41.11%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83.7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82.8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82.2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Single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3.64%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Double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Triple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HomeRun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FieldOut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11.75%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7.3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8.7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10.7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Strikeout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5.89%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19.5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16.6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17.3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Walk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2.04%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85.9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81.2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85.6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HBP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2.9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10.9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17.2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2C3E50"/>
                </a:solidFill>
                <a:latin typeface="맑은 고딕"/>
              </a:rPr>
              <a:t>빨강 = 0% (해당 클래스 예측 불가)  |  초록 = 유의미한 예측 성능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Per-class Top-4 Accuracy (%)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2287.5" y="1005840"/>
          <a:ext cx="106070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1097280"/>
                <a:gridCol w="1097280"/>
                <a:gridCol w="1371600"/>
                <a:gridCol w="1463040"/>
                <a:gridCol w="1463040"/>
                <a:gridCol w="1828800"/>
              </a:tblGrid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클래스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비율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LR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LGB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MLP 77d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MLP 135d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RNN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Transformer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Ball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33.31%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70.6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99.6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99.4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99.6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Strike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41.11%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70.4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100.0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100.0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100.0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Single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3.64%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47.8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88.9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90.1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89.6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Double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28.5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37.4</a:t>
                      </a:r>
                    </a:p>
                  </a:txBody>
                  <a:tcPr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36.5</a:t>
                      </a:r>
                    </a:p>
                  </a:txBody>
                  <a:tcPr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27.5</a:t>
                      </a:r>
                    </a:p>
                  </a:txBody>
                  <a:tcPr>
                    <a:solidFill>
                      <a:srgbClr val="FDF2E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Triple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HomeRun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20.5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18.1</a:t>
                      </a:r>
                    </a:p>
                  </a:txBody>
                  <a:tcPr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10.4</a:t>
                      </a:r>
                    </a:p>
                  </a:txBody>
                  <a:tcPr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15.6</a:t>
                      </a:r>
                    </a:p>
                  </a:txBody>
                  <a:tcPr>
                    <a:solidFill>
                      <a:srgbClr val="FDF2E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FieldOut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11.75%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62.2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100.0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100.0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100.0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Strikeout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5.89%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54.3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100.0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99.9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99.8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Walk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2.04%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38.3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98.2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98.0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99.0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HBP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5.7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95.3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92.2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92.2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Overall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92.1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66.0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92.1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98.0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98.0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98.0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2C3E50"/>
                </a:solidFill>
                <a:latin typeface="맑은 고딕"/>
              </a:rPr>
              <a:t>Top-4: 예측 확률 상위 4개 안에 정답 포함 비율  |  LR/MLP 77d Overall 92% = 고빈도 4클래스에 의한 착시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Top-4 Precision: Per-class 분석</a:t>
            </a:r>
          </a:p>
        </p:txBody>
      </p:sp>
      <p:pic>
        <p:nvPicPr>
          <p:cNvPr id="4" name="Picture 3" descr="fig4_top4_precis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202" y="1005840"/>
            <a:ext cx="7149291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61888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67E22"/>
                </a:solidFill>
                <a:latin typeface="맑은 고딕"/>
              </a:rPr>
              <a:t>MLP 135d (i.i.d., MDP 호환): Walk 98%, Single 89% → Transformer와 Top-4 동등 (98.0%)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핵심 발견: 10-Class 비교에서 배운 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74C3C"/>
                </a:solidFill>
                <a:latin typeface="맑은 고딕"/>
              </a:rPr>
              <a:t>① 77-dim collapse는 feature 부족이 원인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맑은 고딕"/>
              </a:rPr>
              <a:t>어떤 class balancing 기법도 (Focal Loss, sqrt-weight, inverse-freq)</a:t>
            </a:r>
          </a:p>
          <a:p>
            <a:pPr algn="l"/>
            <a:r>
              <a:rPr sz="1600" b="0" i="0">
                <a:solidFill>
                  <a:srgbClr val="2C3E50"/>
                </a:solidFill>
                <a:latin typeface="맑은 고딕"/>
              </a:rPr>
              <a:t>feature가 부족하면 해결 불가 — 41.1%에서 정체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80360"/>
            <a:ext cx="11277295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7AE60"/>
                </a:solidFill>
                <a:latin typeface="맑은 고딕"/>
              </a:rPr>
              <a:t>② Context 58d 추가로 +26.5pp 돌파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맑은 고딕"/>
              </a:rPr>
              <a:t>투수 repertoire 통계를 정적 feature로 추가 →</a:t>
            </a:r>
          </a:p>
          <a:p>
            <a:pPr algn="l"/>
            <a:r>
              <a:rPr sz="1600" b="0" i="0">
                <a:solidFill>
                  <a:srgbClr val="2C3E50"/>
                </a:solidFill>
                <a:latin typeface="맑은 고딕"/>
              </a:rPr>
              <a:t>77d 41.1% → 135d 67.6% (Sequence 모델과 동등)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663440"/>
            <a:ext cx="11277295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980B9"/>
                </a:solidFill>
                <a:latin typeface="맑은 고딕"/>
              </a:rPr>
              <a:t>③ MDP 호환성 유지하며 Transformer 수준 달성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578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맑은 고딕"/>
              </a:rPr>
              <a:t>MLP 135d: i.i.d. 입력, MDP state로 사용 가능</a:t>
            </a:r>
          </a:p>
          <a:p>
            <a:pPr algn="l"/>
            <a:r>
              <a:rPr sz="1600" b="0" i="0">
                <a:solidFill>
                  <a:srgbClr val="2C3E50"/>
                </a:solidFill>
                <a:latin typeface="맑은 고딕"/>
              </a:rPr>
              <a:t>RNN/Transformer: sequence 의존 → MDP 비호환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