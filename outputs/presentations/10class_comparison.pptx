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0"/>
            <a:ext cx="11277295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00" b="1" i="0">
                <a:solidFill>
                  <a:srgbClr val="FFFFFF"/>
                </a:solidFill>
                <a:latin typeface="맑은 고딕"/>
              </a:rPr>
              <a:t>10-Class Pitch Outcome</a:t>
            </a:r>
          </a:p>
          <a:p>
            <a:pPr algn="ctr"/>
            <a:r>
              <a:rPr sz="4200" b="1" i="0">
                <a:solidFill>
                  <a:srgbClr val="FFFFFF"/>
                </a:solidFill>
                <a:latin typeface="맑은 고딕"/>
              </a:rPr>
              <a:t>Model Comparison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2926080"/>
            <a:ext cx="112772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0">
                <a:solidFill>
                  <a:srgbClr val="ABC4D4"/>
                </a:solidFill>
                <a:latin typeface="맑은 고딕"/>
              </a:rPr>
              <a:t>6개 모델 아키텍처 × 10-class 분류 성능 비교</a:t>
            </a:r>
          </a:p>
          <a:p>
            <a:pPr algn="ctr"/>
            <a:r>
              <a:rPr sz="2000" b="0" i="0">
                <a:solidFill>
                  <a:srgbClr val="ABC4D4"/>
                </a:solidFill>
                <a:latin typeface="맑은 고딕"/>
              </a:rPr>
              <a:t>MLB Statcast 2022-2024 (3시즌, ~149만 투구)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029200"/>
            <a:ext cx="1127729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600" b="0" i="0">
                <a:solidFill>
                  <a:srgbClr val="859BAB"/>
                </a:solidFill>
                <a:latin typeface="맑은 고딕"/>
              </a:rPr>
              <a:t>SmartPitch MDP Transition Probability Models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6개 모델 10-Class 성능 비교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09447.5" y="1097280"/>
          <a:ext cx="109728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371600"/>
                <a:gridCol w="1188720"/>
                <a:gridCol w="1188720"/>
                <a:gridCol w="1188720"/>
                <a:gridCol w="914400"/>
                <a:gridCol w="3291840"/>
              </a:tblGrid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모델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Input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Top-1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Top-3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CE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MDP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  <a:latin typeface="맑은 고딕"/>
                        </a:rPr>
                        <a:t>비고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LR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77d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41.1%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86.2%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1.614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✅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collapse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LightGBM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77d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13.0%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48.1%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2.087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✅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역collapse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MLP (77d)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77d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41.1%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86.2%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1.470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✅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collapse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C3E50"/>
                          </a:solidFill>
                          <a:latin typeface="맑은 고딕"/>
                        </a:rPr>
                        <a:t>MLP 135d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C3E50"/>
                          </a:solidFill>
                          <a:latin typeface="맑은 고딕"/>
                        </a:rPr>
                        <a:t>135d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C3E50"/>
                          </a:solidFill>
                          <a:latin typeface="맑은 고딕"/>
                        </a:rPr>
                        <a:t>67.6%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C3E50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C3E50"/>
                          </a:solidFill>
                          <a:latin typeface="맑은 고딕"/>
                        </a:rPr>
                        <a:t>—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C3E50"/>
                          </a:solidFill>
                          <a:latin typeface="맑은 고딕"/>
                        </a:rPr>
                        <a:t>✅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C3E50"/>
                          </a:solidFill>
                          <a:latin typeface="맑은 고딕"/>
                        </a:rPr>
                        <a:t>MDP 최선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653142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RNN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400×87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66.9%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94.8%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0.873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❌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sequence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  <a:tr h="653148"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Transformer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400×87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67.2%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94.7%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0.868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❌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C3E50"/>
                          </a:solidFill>
                          <a:latin typeface="맑은 고딕"/>
                        </a:rPr>
                        <a:t>sequence</a:t>
                      </a:r>
                    </a:p>
                  </a:txBody>
                  <a:tcPr>
                    <a:solidFill>
                      <a:srgbClr val="EBF5FB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1">
                <a:solidFill>
                  <a:srgbClr val="2C3E50"/>
                </a:solidFill>
                <a:latin typeface="맑은 고딕"/>
              </a:rPr>
              <a:t>빨강 배경 = collapse (다수 클래스만 예측)  |  초록 배경 = MDP 호환 최선 모델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77-dim i.i.d. 모델의 Collapse 현상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4572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10개 클래스 분포 (불균형):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Strike  41.1%  ← 다수 클래스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Ball    33.4%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FieldOut 11.9%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Strikeout 5.9%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Single   3.7%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Walk     2.2%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Double   1.1%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HomeRun  0.8%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HBP      0.3%</a:t>
            </a:r>
          </a:p>
          <a:p>
            <a:pPr algn="l"/>
            <a:r>
              <a:rPr sz="1700" b="0" i="0">
                <a:solidFill>
                  <a:srgbClr val="2C3E50"/>
                </a:solidFill>
                <a:latin typeface="맑은 고딕"/>
              </a:rPr>
              <a:t>  Triple   0.1%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0" y="1188720"/>
            <a:ext cx="6217920" cy="1463040"/>
          </a:xfrm>
          <a:prstGeom prst="rect">
            <a:avLst/>
          </a:prstGeom>
          <a:solidFill>
            <a:srgbClr val="FFFFFF"/>
          </a:solidFill>
          <a:ln w="3175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0" y="1261872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74C3C"/>
                </a:solidFill>
                <a:latin typeface="맑은 고딕"/>
              </a:rPr>
              <a:t>Class balancing 미적용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0" y="1691640"/>
            <a:ext cx="5852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맑은 고딕"/>
              </a:rPr>
              <a:t>LR/MLP → Strike만 예측 (41.1%)</a:t>
            </a:r>
          </a:p>
          <a:p>
            <a:pPr algn="l"/>
            <a:r>
              <a:rPr sz="1500" b="0" i="0">
                <a:solidFill>
                  <a:srgbClr val="2C3E50"/>
                </a:solidFill>
                <a:latin typeface="맑은 고딕"/>
              </a:rPr>
              <a:t>Macro-F1 = 0.06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0" y="2880360"/>
            <a:ext cx="6217920" cy="1463040"/>
          </a:xfrm>
          <a:prstGeom prst="rect">
            <a:avLst/>
          </a:prstGeom>
          <a:solidFill>
            <a:srgbClr val="FFFFFF"/>
          </a:solidFill>
          <a:ln w="31750">
            <a:solidFill>
              <a:srgbClr val="E67E2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669280" y="2953512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67E22"/>
                </a:solidFill>
                <a:latin typeface="맑은 고딕"/>
              </a:rPr>
              <a:t>Class balancing 과적용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0" y="3383280"/>
            <a:ext cx="5852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맑은 고딕"/>
              </a:rPr>
              <a:t>LightGBM → 전 클래스 균등 (13.0%)</a:t>
            </a:r>
          </a:p>
          <a:p>
            <a:pPr algn="l"/>
            <a:r>
              <a:rPr sz="1500" b="0" i="0">
                <a:solidFill>
                  <a:srgbClr val="2C3E50"/>
                </a:solidFill>
                <a:latin typeface="맑은 고딕"/>
              </a:rPr>
              <a:t>inverse-freq 과보정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486400" y="4572000"/>
            <a:ext cx="6217920" cy="1463040"/>
          </a:xfrm>
          <a:prstGeom prst="rect">
            <a:avLst/>
          </a:prstGeom>
          <a:solidFill>
            <a:srgbClr val="FFFFFF"/>
          </a:solidFill>
          <a:ln w="3175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669280" y="4645152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7AE60"/>
                </a:solidFill>
                <a:latin typeface="맑은 고딕"/>
              </a:rPr>
              <a:t>해결: Context 추가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0" y="5074920"/>
            <a:ext cx="58521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2C3E50"/>
                </a:solidFill>
                <a:latin typeface="맑은 고딕"/>
              </a:rPr>
              <a:t>Arsenal 52d → 41.1% → 67.6%</a:t>
            </a:r>
          </a:p>
          <a:p>
            <a:pPr algn="l"/>
            <a:r>
              <a:rPr sz="1500" b="0" i="0">
                <a:solidFill>
                  <a:srgbClr val="2C3E50"/>
                </a:solidFill>
                <a:latin typeface="맑은 고딕"/>
              </a:rPr>
              <a:t>+26.5pp 상승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008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74C3C"/>
                </a:solidFill>
                <a:latin typeface="맑은 고딕"/>
              </a:rPr>
              <a:t>핵심: feature 부족이 원인 — class balancing, Focal Loss 등 기법으로는 해결 불가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Per-class Top-1 Accuracy (%)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472287.5" y="1005840"/>
          <a:ext cx="1060704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914400"/>
                <a:gridCol w="1097280"/>
                <a:gridCol w="1097280"/>
                <a:gridCol w="1371600"/>
                <a:gridCol w="1463040"/>
                <a:gridCol w="1463040"/>
                <a:gridCol w="1828800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클래스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비율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LR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LGB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MLP 77d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MLP 135d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RNN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  <a:latin typeface="맑은 고딕"/>
                        </a:rPr>
                        <a:t>Transformer</a:t>
                      </a:r>
                    </a:p>
                  </a:txBody>
                  <a:tcPr>
                    <a:solidFill>
                      <a:srgbClr val="2980B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Ball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33.3%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0.0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88.4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87.2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87.6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Strike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41.1%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99.8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13.1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83.7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82.8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82.2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Single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3.6%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12.3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Double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10.7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Triple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0.09%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HomeRun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7.9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FieldOut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11.8%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7.3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8.7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10.7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Strikeout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5.9%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12.8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19.5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16.6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17.3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Walk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2.0%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12.1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85.9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81.2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85.6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HBP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0.3%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3.3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0</a:t>
                      </a:r>
                    </a:p>
                  </a:txBody>
                  <a:tcPr>
                    <a:solidFill>
                      <a:srgbClr val="FDEDE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2.9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10.9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C3E50"/>
                          </a:solidFill>
                          <a:latin typeface="맑은 고딕"/>
                        </a:rPr>
                        <a:t>17.2</a:t>
                      </a:r>
                    </a:p>
                  </a:txBody>
                  <a:tcPr>
                    <a:solidFill>
                      <a:srgbClr val="D5F5E3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457200" y="64008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1">
                <a:solidFill>
                  <a:srgbClr val="2C3E50"/>
                </a:solidFill>
                <a:latin typeface="맑은 고딕"/>
              </a:rPr>
              <a:t>빨강 = 0% (해당 클래스 예측 불가)  |  초록 = 유의미한 예측 성능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Top-4 Precision: Per-class 분석</a:t>
            </a:r>
          </a:p>
        </p:txBody>
      </p:sp>
      <p:pic>
        <p:nvPicPr>
          <p:cNvPr id="4" name="Picture 3" descr="fig4_top4_precision_heatma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21202" y="1005840"/>
            <a:ext cx="7149291" cy="48463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961888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0" i="0">
                <a:solidFill>
                  <a:srgbClr val="E67E22"/>
                </a:solidFill>
                <a:latin typeface="맑은 고딕"/>
              </a:rPr>
              <a:t>MLP 135d (i.i.d., MDP 호환): Walk 98%, Single 89% → Transformer와 Top-4 동등 (98.0%)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2C3E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11277295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맑은 고딕"/>
              </a:rPr>
              <a:t>핵심 발견: 10-Class 비교에서 배운 것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97280"/>
            <a:ext cx="11277295" cy="1554480"/>
          </a:xfrm>
          <a:prstGeom prst="rect">
            <a:avLst/>
          </a:prstGeom>
          <a:solidFill>
            <a:srgbClr val="FFFFFF"/>
          </a:solidFill>
          <a:ln w="25400">
            <a:solidFill>
              <a:srgbClr val="E74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8872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E74C3C"/>
                </a:solidFill>
                <a:latin typeface="맑은 고딕"/>
              </a:rPr>
              <a:t>① 77-dim collapse는 feature 부족이 원인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69164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맑은 고딕"/>
              </a:rPr>
              <a:t>어떤 class balancing 기법도 (Focal Loss, sqrt-weight, inverse-freq)</a:t>
            </a:r>
          </a:p>
          <a:p>
            <a:pPr algn="l"/>
            <a:r>
              <a:rPr sz="1600" b="0" i="0">
                <a:solidFill>
                  <a:srgbClr val="2C3E50"/>
                </a:solidFill>
                <a:latin typeface="맑은 고딕"/>
              </a:rPr>
              <a:t>feature가 부족하면 해결 불가 — 41.1%에서 정체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880360"/>
            <a:ext cx="11277295" cy="1554480"/>
          </a:xfrm>
          <a:prstGeom prst="rect">
            <a:avLst/>
          </a:prstGeom>
          <a:solidFill>
            <a:srgbClr val="FFFFFF"/>
          </a:solidFill>
          <a:ln w="25400">
            <a:solidFill>
              <a:srgbClr val="27AE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297180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7AE60"/>
                </a:solidFill>
                <a:latin typeface="맑은 고딕"/>
              </a:rPr>
              <a:t>② Arsenal 52d 추가로 +26.5pp 돌파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347472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맑은 고딕"/>
              </a:rPr>
              <a:t>투수 repertoire 통계를 정적 feature로 추가 →</a:t>
            </a:r>
          </a:p>
          <a:p>
            <a:pPr algn="l"/>
            <a:r>
              <a:rPr sz="1600" b="0" i="0">
                <a:solidFill>
                  <a:srgbClr val="2C3E50"/>
                </a:solidFill>
                <a:latin typeface="맑은 고딕"/>
              </a:rPr>
              <a:t>77d 41.1% → 135d 67.6% (Sequence 모델과 동등)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4663440"/>
            <a:ext cx="11277295" cy="1554480"/>
          </a:xfrm>
          <a:prstGeom prst="rect">
            <a:avLst/>
          </a:prstGeom>
          <a:solidFill>
            <a:srgbClr val="FFFFFF"/>
          </a:solidFill>
          <a:ln w="25400">
            <a:solidFill>
              <a:srgbClr val="2980B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1091153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2980B9"/>
                </a:solidFill>
                <a:latin typeface="맑은 고딕"/>
              </a:rPr>
              <a:t>③ MDP 호환성 유지하며 Transformer 수준 달성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257800"/>
            <a:ext cx="10728655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 i="0">
                <a:solidFill>
                  <a:srgbClr val="2C3E50"/>
                </a:solidFill>
                <a:latin typeface="맑은 고딕"/>
              </a:rPr>
              <a:t>MLP 135d: i.i.d. 입력, MDP state로 사용 가능</a:t>
            </a:r>
          </a:p>
          <a:p>
            <a:pPr algn="l"/>
            <a:r>
              <a:rPr sz="1600" b="0" i="0">
                <a:solidFill>
                  <a:srgbClr val="2C3E50"/>
                </a:solidFill>
                <a:latin typeface="맑은 고딕"/>
              </a:rPr>
              <a:t>RNN/Transformer: sequence 의존 → MDP 비호환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