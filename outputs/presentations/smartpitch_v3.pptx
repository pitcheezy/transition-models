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맑은 고딕"/>
              </a:rPr>
              <a:t>SmartPitch v3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BC4D4"/>
                </a:solidFill>
                <a:latin typeface="맑은 고딕"/>
              </a:rPr>
              <a:t>Pitcher 의사결정 시스템</a:t>
            </a:r>
          </a:p>
          <a:p>
            <a:pPr algn="ctr"/>
            <a:r>
              <a:rPr sz="2200" b="0" i="0">
                <a:solidFill>
                  <a:srgbClr val="ABC4D4"/>
                </a:solidFill>
                <a:latin typeface="맑은 고딕"/>
              </a:rPr>
              <a:t>선행 연구 한계 극복 + MDP/RL 통합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59BAB"/>
                </a:solidFill>
                <a:latin typeface="맑은 고딕"/>
              </a:rPr>
              <a:t>발표자: 김현준</a:t>
            </a:r>
          </a:p>
          <a:p>
            <a:pPr algn="ctr"/>
            <a:r>
              <a:rPr sz="1600" b="0" i="0">
                <a:solidFill>
                  <a:srgbClr val="859BAB"/>
                </a:solidFill>
                <a:latin typeface="맑은 고딕"/>
              </a:rPr>
              <a:t>충북대학교 소프트웨어공학과</a:t>
            </a:r>
          </a:p>
          <a:p>
            <a:pPr algn="ctr"/>
            <a:r>
              <a:rPr sz="1600" b="0" i="0">
                <a:solidFill>
                  <a:srgbClr val="859BAB"/>
                </a:solidFill>
                <a:latin typeface="맑은 고딕"/>
              </a:rPr>
              <a:t>2026년 6월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투수의 의사결정은 단순 예측이 아닌 장기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3E50"/>
                </a:solidFill>
                <a:latin typeface="맑은 고딕"/>
              </a:rPr>
              <a:t>상황: count 2-1, 1루 주자</a:t>
            </a:r>
          </a:p>
          <a:p>
            <a:pPr algn="l"/>
            <a:r>
              <a:rPr sz="2000" b="0" i="0">
                <a:solidFill>
                  <a:srgbClr val="2C3E50"/>
                </a:solidFill>
                <a:latin typeface="맑은 고딕"/>
              </a:rPr>
              <a:t>           ↓</a:t>
            </a:r>
          </a:p>
          <a:p>
            <a:pPr algn="l"/>
            <a:r>
              <a:rPr sz="2000" b="0" i="0">
                <a:solidFill>
                  <a:srgbClr val="2C3E50"/>
                </a:solidFill>
                <a:latin typeface="맑은 고딕"/>
              </a:rPr>
              <a:t>가능한 pitch: 100+ (구종 × 존)</a:t>
            </a:r>
          </a:p>
          <a:p>
            <a:pPr algn="l"/>
            <a:r>
              <a:rPr sz="2000" b="0" i="0">
                <a:solidFill>
                  <a:srgbClr val="2C3E50"/>
                </a:solidFill>
                <a:latin typeface="맑은 고딕"/>
              </a:rPr>
              <a:t>           ↓</a:t>
            </a:r>
          </a:p>
          <a:p>
            <a:pPr algn="l"/>
            <a:r>
              <a:rPr sz="2000" b="0" i="0">
                <a:solidFill>
                  <a:srgbClr val="2C3E50"/>
                </a:solidFill>
                <a:latin typeface="맑은 고딕"/>
              </a:rPr>
              <a:t>핵심 질문: '어떤 pitch가 장기적으로 유리한가?'</a:t>
            </a:r>
          </a:p>
          <a:p>
            <a:pPr algn="l"/>
            <a:r>
              <a:rPr sz="2000" b="0" i="0">
                <a:solidFill>
                  <a:srgbClr val="2C3E50"/>
                </a:solidFill>
                <a:latin typeface="맑은 고딕"/>
              </a:rPr>
              <a:t>           ↓</a:t>
            </a:r>
          </a:p>
          <a:p>
            <a:pPr algn="l"/>
            <a:r>
              <a:rPr sz="2000" b="0" i="0">
                <a:solidFill>
                  <a:srgbClr val="2C3E50"/>
                </a:solidFill>
                <a:latin typeface="맑은 고딕"/>
              </a:rPr>
              <a:t>결과: at-bat 종료까지의 누적 reward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695" y="1280160"/>
            <a:ext cx="4114800" cy="3474720"/>
          </a:xfrm>
          <a:prstGeom prst="rect">
            <a:avLst/>
          </a:prstGeom>
          <a:solidFill>
            <a:srgbClr val="EBF5FB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11135" y="1828800"/>
            <a:ext cx="3931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2980B9"/>
                </a:solidFill>
                <a:latin typeface="맑은 고딕"/>
              </a:rPr>
              <a:t>1구만 보는 예측을 넘어,</a:t>
            </a:r>
          </a:p>
          <a:p>
            <a:pPr algn="ctr"/>
            <a:r>
              <a:rPr sz="1800" b="0" i="1">
                <a:solidFill>
                  <a:srgbClr val="2980B9"/>
                </a:solidFill>
                <a:latin typeface="맑은 고딕"/>
              </a:rPr>
              <a:t>at-bat 전체의 reward를</a:t>
            </a:r>
          </a:p>
          <a:p>
            <a:pPr algn="ctr"/>
            <a:r>
              <a:rPr sz="1800" b="0" i="1">
                <a:solidFill>
                  <a:srgbClr val="2980B9"/>
                </a:solidFill>
                <a:latin typeface="맑은 고딕"/>
              </a:rPr>
              <a:t>최적화하는 의사결정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C3E50"/>
                </a:solidFill>
                <a:latin typeface="맑은 고딕"/>
              </a:rPr>
              <a:t>재고: 단기 예측 정확도 vs. 장기 전략 보상 최적화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두 선행 연구는 각자 한계를 가짐</a:t>
            </a:r>
          </a:p>
        </p:txBody>
      </p:sp>
      <p:pic>
        <p:nvPicPr>
          <p:cNvPr id="4" name="Picture 3" descr="fig2_paper_positio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" y="960120"/>
            <a:ext cx="10728691" cy="46472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Pitcher Arsenal 정보가 Sequence 모델을 대체할 수 있다</a:t>
            </a:r>
          </a:p>
        </p:txBody>
      </p:sp>
      <p:pic>
        <p:nvPicPr>
          <p:cNvPr id="4" name="Picture 3" descr="fig1_arsenal_vs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" y="960120"/>
            <a:ext cx="10972525" cy="40502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C3E50"/>
                </a:solidFill>
                <a:latin typeface="맑은 고딕"/>
              </a:rPr>
              <a:t>조건 통제 검증: Focal Loss γ=2.0 동일 적용 — arsenal feature 52d 추가만으로 +26.5pp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MIT Sloan 2025와 같은 Top-4 평가 기준 적용</a:t>
            </a:r>
          </a:p>
        </p:txBody>
      </p:sp>
      <p:pic>
        <p:nvPicPr>
          <p:cNvPr id="4" name="Picture 3" descr="fig4_top4_precis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77" y="960120"/>
            <a:ext cx="10362940" cy="7024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E67E22"/>
                </a:solidFill>
                <a:latin typeface="맑은 고딕"/>
              </a:rPr>
              <a:t>MLP 135d (i.i.d., MDP 호환) — Walk 98%, Single 89% → Transformer와 동등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Transformer 환경에서 6개 RL 알고리즘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6647.5" y="1051560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3200400"/>
                <a:gridCol w="2743200"/>
              </a:tblGrid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알고리즘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Mean Reward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95% CI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C3E50"/>
                          </a:solidFill>
                          <a:latin typeface="맑은 고딕"/>
                        </a:rPr>
                        <a:t>MDP-VI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C3E50"/>
                          </a:solidFill>
                          <a:latin typeface="맑은 고딕"/>
                        </a:rPr>
                        <a:t>+0.224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C3E50"/>
                          </a:solidFill>
                          <a:latin typeface="맑은 고딕"/>
                        </a:rPr>
                        <a:t>[0.180, 0.267]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C3E50"/>
                          </a:solidFill>
                          <a:latin typeface="맑은 고딕"/>
                        </a:rPr>
                        <a:t>모델 기반 RL ★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C3E50"/>
                          </a:solidFill>
                          <a:latin typeface="맑은 고딕"/>
                        </a:rPr>
                        <a:t>Dyna-Q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C3E50"/>
                          </a:solidFill>
                          <a:latin typeface="맑은 고딕"/>
                        </a:rPr>
                        <a:t>+0.210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C3E50"/>
                          </a:solidFill>
                          <a:latin typeface="맑은 고딕"/>
                        </a:rPr>
                        <a:t>[0.166, 0.254]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C3E50"/>
                          </a:solidFill>
                          <a:latin typeface="맑은 고딕"/>
                        </a:rPr>
                        <a:t>모델 기반 RL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DDQN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+0.133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[0.080, 0.185]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Model-free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DQN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+0.015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[-0.046, 0.076]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Model-free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PPO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-0.025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[-0.088, 0.039]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Policy gradient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888888"/>
                          </a:solidFill>
                          <a:latin typeface="맑은 고딕"/>
                        </a:rPr>
                        <a:t>Random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888888"/>
                          </a:solidFill>
                          <a:latin typeface="맑은 고딕"/>
                        </a:rPr>
                        <a:t>-0.085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888888"/>
                          </a:solidFill>
                          <a:latin typeface="맑은 고딕"/>
                        </a:rPr>
                        <a:t>[-0.156, -0.014]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888888"/>
                          </a:solidFill>
                          <a:latin typeface="맑은 고딕"/>
                        </a:rPr>
                        <a:t>기준선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4924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C3E50"/>
                </a:solidFill>
                <a:latin typeface="맑은 고딕"/>
              </a:rPr>
              <a:t>본인 Transformer를 transition function으로 활용  →  모델 기반 RL (MDP-VI, Dyna-Q)이 압도적 우위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본인 SmartPitch의 3가지 Contribution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1554480"/>
          </a:xfrm>
          <a:prstGeom prst="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980B9"/>
                </a:solidFill>
                <a:latin typeface="맑은 고딕"/>
              </a:rPr>
              <a:t>① MDP/RL 통합 확장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1848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맑은 고딕"/>
              </a:rPr>
              <a:t>Otremba: Value Iteration 1개  →  본인: 6개 RL 알고리즘 비교 (MDP-VI / Dyna-Q / DDQN / DQN / PPO / Random)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07208"/>
            <a:ext cx="11277295" cy="1554480"/>
          </a:xfrm>
          <a:prstGeom prst="rect">
            <a:avLst/>
          </a:prstGeom>
          <a:solidFill>
            <a:srgbClr val="FDF2E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898648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7E22"/>
                </a:solidFill>
                <a:latin typeface="맑은 고딕"/>
              </a:rPr>
              <a:t>② i.i.d.로 Sequence 모델 수준 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74136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맑은 고딕"/>
              </a:rPr>
              <a:t>MIT Sloan: Transformer 필수 (MDP 비호환)  →  본인 MLP + arsenal 52d: 동등 성능 + MDP 호환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562856"/>
            <a:ext cx="11277295" cy="1554480"/>
          </a:xfrm>
          <a:prstGeom prst="rect">
            <a:avLst/>
          </a:prstGeom>
          <a:solidFill>
            <a:srgbClr val="E9F7E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654296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7AE60"/>
                </a:solidFill>
                <a:latin typeface="맑은 고딕"/>
              </a:rPr>
              <a:t>③ Pitcher 맥락 통합  (양측 선행연구 미수행)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9784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맑은 고딕"/>
              </a:rPr>
              <a:t>arsenal 52d 추가  →  +26.5pp 정량 검증  (77d 41.1% → 135d 67.6%)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향후 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3E50"/>
                </a:solidFill>
                <a:latin typeface="맑은 고딕"/>
              </a:rPr>
              <a:t>• Phase 4.4: Model C 환경에서 RL 재실험 (Transformer 전이확률 활용)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3E50"/>
                </a:solidFill>
                <a:latin typeface="맑은 고딕"/>
              </a:rPr>
              <a:t>• Hit location 예측 추가 (MIT Sloan 참고 — 9-class hit location)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C3E50"/>
                </a:solidFill>
                <a:latin typeface="맑은 고딕"/>
              </a:rPr>
              <a:t>• 한국 야구(KBO) 적용 검증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114800"/>
            <a:ext cx="8503920" cy="2103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48056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맑은 고딕"/>
              </a:rPr>
              <a:t>감사합니다. 질문 주세요.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[백업] 4-class MDP 호환 모델 비교</a:t>
            </a:r>
          </a:p>
        </p:txBody>
      </p:sp>
      <p:pic>
        <p:nvPicPr>
          <p:cNvPr id="4" name="Picture 3" descr="fig3_4class_m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18" y="960120"/>
            <a:ext cx="10484857" cy="45674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[백업] 1차 발표 대비 개선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6647.5" y="1097280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411480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1차 발표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이번 발표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2시즌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3시즌 (정합성 강화)</a:t>
                      </a:r>
                    </a:p>
                  </a:txBody>
                  <a:tcPr>
                    <a:solidFill>
                      <a:srgbClr val="FDF2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LightGBM 4cls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58.7%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60.8% (+2.1pp)</a:t>
                      </a:r>
                    </a:p>
                  </a:txBody>
                  <a:tcPr>
                    <a:solidFill>
                      <a:srgbClr val="FDF2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신규 평가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Macro-F1, Top-4 Precision</a:t>
                      </a:r>
                    </a:p>
                  </a:txBody>
                  <a:tcPr>
                    <a:solidFill>
                      <a:srgbClr val="FDF2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새 모델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MLP 135d, RNN, Transformer</a:t>
                      </a:r>
                    </a:p>
                  </a:txBody>
                  <a:tcPr>
                    <a:solidFill>
                      <a:srgbClr val="FDF2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핵심 발견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C3E50"/>
                          </a:solidFill>
                          <a:latin typeface="맑은 고딕"/>
                        </a:rPr>
                        <a:t>arsenal +26.5pp 정량 검증</a:t>
                      </a:r>
                    </a:p>
                  </a:txBody>
                  <a:tcPr>
                    <a:solidFill>
                      <a:srgbClr val="FDF2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[백업] 실험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980B9"/>
                </a:solidFill>
                <a:latin typeface="맑은 고딕"/>
              </a:rPr>
              <a:t>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MLB Statcast 2022~2024 (3시즌, ~149만 투구)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92224"/>
            <a:ext cx="11277295" cy="12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980B9"/>
                </a:solidFill>
                <a:latin typeface="맑은 고딕"/>
              </a:rPr>
              <a:t>시즌별 규모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2024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2022: 77.5만 / 2023: 77.4만 / 2024: 76.0만 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15184"/>
            <a:ext cx="11277295" cy="12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980B9"/>
                </a:solidFill>
                <a:latin typeface="맑은 고딕"/>
              </a:rPr>
              <a:t>테스트셋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7432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2024시즌 (날짜 기반 분리): 약 35만 샘플 (10-class)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38144"/>
            <a:ext cx="11277295" cy="12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980B9"/>
                </a:solidFill>
                <a:latin typeface="맑은 고딕"/>
              </a:rPr>
              <a:t>Focal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56616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γ=2.0 — i.i.d. 모델(77d/135d) 전용, sequence 모델 미적용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61104"/>
            <a:ext cx="11277295" cy="12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980B9"/>
                </a:solidFill>
                <a:latin typeface="맑은 고딕"/>
              </a:rPr>
              <a:t>Train/Val 분리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38912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시즌 기반 (2022~2023 train, 2024 val/test) — 데이터 누수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84064"/>
            <a:ext cx="11277295" cy="12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212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980B9"/>
                </a:solidFill>
                <a:latin typeface="맑은 고딕"/>
              </a:rPr>
              <a:t>모델 파라미터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21208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3E50"/>
                </a:solidFill>
                <a:latin typeface="맑은 고딕"/>
              </a:rPr>
              <a:t>LR ~308p / LGB ~50K leaves / MLP 27K / MLP135d 32K / RNN 590K / Transformer 9.7M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07024"/>
            <a:ext cx="11277295" cy="12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