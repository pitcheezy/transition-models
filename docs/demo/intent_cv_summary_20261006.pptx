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739d5fb8ca478e" /><Relationship Type="http://schemas.openxmlformats.org/officeDocument/2006/relationships/extended-properties" Target="/docProps/app.xml" Id="Rae72baeef70a414e" /><Relationship Type="http://schemas.openxmlformats.org/officeDocument/2006/relationships/officeDocument" Target="/ppt/presentation.xml" Id="R66bed0fe808b43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f65e9286ec4598"/>
  </p:sldMasterIdLst>
  <p:notesMasterIdLst>
    <p:notesMasterId xmlns:r="http://schemas.openxmlformats.org/officeDocument/2006/relationships" r:id="R2a3e19ba877d4a69"/>
  </p:notesMasterIdLst>
  <p:sldIdLst>
    <p:sldId xmlns:r="http://schemas.openxmlformats.org/officeDocument/2006/relationships" id="256" r:id="R971d6805287d4c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9bb6bd86634023" /><Relationship Type="http://schemas.openxmlformats.org/officeDocument/2006/relationships/slideMaster" Target="/ppt/slideMasters/slideMaster1.xml" Id="Racf65e9286ec4598" /><Relationship Type="http://schemas.openxmlformats.org/officeDocument/2006/relationships/notesMaster" Target="/ppt/notesMasters/notesMaster1.xml" Id="R2a3e19ba877d4a69" /><Relationship Type="http://schemas.openxmlformats.org/officeDocument/2006/relationships/presProps" Target="/ppt/presProps.xml" Id="R59086a8033d64781" /><Relationship Type="http://schemas.openxmlformats.org/officeDocument/2006/relationships/tableStyles" Target="/ppt/tableStyles.xml" Id="R71351050ca444c30" /><Relationship Type="http://schemas.openxmlformats.org/officeDocument/2006/relationships/slide" Target="/ppt/slides/slide1.xml" Id="R971d6805287d4c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7a171c4efc4f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82c30059d34b66" /><Relationship Type="http://schemas.openxmlformats.org/officeDocument/2006/relationships/notesMaster" Target="/ppt/notesMasters/notesMaster1.xml" Id="R6f80193bd2e64a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2026-10-06 교수 시연용 CV 요약 한 장. MLB 영상·사진을 포함하지 않음.</a:t>
            </a:r>
          </a:p>
          <a:p xmlns:a="http://schemas.openxmlformats.org/drawingml/2006/main">
            <a:r>
              <a:t>확정 문구와 표시 계약의 출처: 2026-10-04 사용자 전달 Song 답변.</a:t>
            </a:r>
          </a:p>
          <a:p xmlns:a="http://schemas.openxmlformats.org/drawingml/2006/main">
            <a:r>
              <a:t>M3 report: docs/results/mlb_p0/intent_accuracy_report_v0.json (code_commit 6245038).</a:t>
            </a:r>
          </a:p>
          <a:p xmlns:a="http://schemas.openxmlformats.org/drawingml/2006/main">
            <a:r>
              <a:t>SHA256: 0133f8982111d79340243dfed01572699df6c6786b5392dc718ce96de1f62d48.</a:t>
            </a:r>
          </a:p>
          <a:p xmlns:a="http://schemas.openxmlformats.org/drawingml/2006/main">
            <a:r>
              <a:t>Keys: evaluation_pooled.lines_in_output=86, assistant.estimated=58, assistant.unavailable=28, availability.both_marked=58.</a:t>
            </a:r>
          </a:p>
          <a:p xmlns:a="http://schemas.openxmlformats.org/drawingml/2006/main">
            <a:r>
              <a:t>mitt_reading_pixels.distance.median=2.5298221281347035 px; output_vs_person_feet.distance.median=0.09236584866713454 ft (x/z Euclidean distance), multiplied by 12 =1.1083901840 in.</a:t>
            </a:r>
          </a:p>
          <a:p xmlns:a="http://schemas.openxmlformats.org/drawingml/2006/main">
            <a:r>
              <a:t>These are nearest-rank medians on the 58 mutually marked frames. Coordinate agreement uses a shared transform and is not physical ground-truth accuracy or pitcher intent.</a:t>
            </a:r>
          </a:p>
          <a:p xmlns:a="http://schemas.openxmlformats.org/drawingml/2006/main">
            <a:r>
              <a:t>AI abstention frames are excluded from paired distance metrics. Person marked 84/86. One owner labeler, one pass, AI points hidden but frames selected by AI.</a:t>
            </a:r>
          </a:p>
          <a:p xmlns:a="http://schemas.openxmlformats.org/drawingml/2006/main">
            <a:r>
              <a:t>The resting-glove label instruction was added after AI output and before human labels; see INTENT_V0_M3_EVAL.md deviations.</a:t>
            </a:r>
          </a:p>
          <a:p xmlns:a="http://schemas.openxmlformats.org/drawingml/2006/main">
            <a:r>
              <a:t>Demonstration: docs/results/mlb_p0/game_849843_intent_v0.jsonl, 39 rows with 27 plate_feet estimates. Use x only after the actual pitch is revealed. Do not expose z, zone9, or pitcher intent.</a:t>
            </a:r>
          </a:p>
          <a:p xmlns:a="http://schemas.openxmlformats.org/drawingml/2006/main">
            <a:r>
              <a:t>is_intent_proxy=true and claims.catcher_intent_verified=false remain unchanged. Actual service wiring and MacBook/iPhone rehearsal are Song responsibility; not claimed as completed here.</a:t>
            </a:r>
          </a:p>
          <a:p xmlns:a="http://schemas.openxmlformats.org/drawingml/2006/main">
            <a:r>
              <a:t>Full pipeline is offline and uses after-pitch graphics in mapping; no automatic real-time synchronization or latency result.</a:t>
            </a:r>
          </a:p>
          <a:p xmlns:a="http://schemas.openxmlformats.org/drawingml/2006/main">
            <a:r>
              <a:t>Local-only comparison pictures: representative 849845:10:4 for main explanation; best/worst and FOX examples for questions. Do not include MLB pictures in public material or shared links.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8cab19d5246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56f8df5ce5424d" /><Relationship Type="http://schemas.openxmlformats.org/officeDocument/2006/relationships/slideLayout" Target="/ppt/slideLayouts/slideLayout1.xml" Id="Ra5bbe0a2919644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bbe0a2919644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b304e4e294e31" /><Relationship Type="http://schemas.openxmlformats.org/officeDocument/2006/relationships/notesSlide" Target="/ppt/notesSlides/notesSlide1.xml" Id="R753a147c168f4a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FA309B0B-FE3E-4F40-B04C-39407594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포수 미트 위치 추정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018E83-7F4B-43D8-AA64-FFE4FBDE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26B"/>
                </a:solidFill>
                <a:latin typeface="Malgun Gothic"/>
                <a:ea typeface="Malgun Gothic"/>
                <a:cs typeface="Malgun Gothic"/>
              </a:rPr>
              <a:t>중계 영상의 포수 셋업 미트를 판독하고 사람 표시와 비교한 CV 초기 평가</a:t>
            </a:r>
          </a:p>
        </p:txBody>
      </p:sp>
      <p:sp>
        <p:nvSpPr>
          <p:cNvPr id="3" name="process-label">
            <a:extLst xmlns:a="http://schemas.openxmlformats.org/drawingml/2006/main">
              <a:ext uri="{FF2B5EF4-FFF2-40B4-BE49-F238E27FC236}">
                <a16:creationId xmlns:a16="http://schemas.microsoft.com/office/drawing/2014/main" id="{B7D9F446-F487-4982-B690-DE2E98C6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A6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A6A"/>
                </a:solidFill>
                <a:latin typeface="Malgun Gothic"/>
                <a:ea typeface="Malgun Gothic"/>
                <a:cs typeface="Malgun Gothic"/>
              </a:rPr>
              <a:t>처리 과정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B3E79D94-D55F-439D-A263-8F2C9003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1  영상과 투구 키 연결</a:t>
            </a:r>
          </a:p>
          <a:p xmlns:a="http://schemas.openxmlformats.org/drawingml/2006/main">
            <a:pPr>
              <a:defRPr sz="1725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압축 경기의 장면 대응</a:t>
            </a:r>
          </a:p>
        </p:txBody>
      </p:sp>
      <p:sp>
        <p:nvSpPr>
          <p:cNvPr id="5" name="process-2">
            <a:extLst xmlns:a="http://schemas.openxmlformats.org/drawingml/2006/main">
              <a:ext uri="{FF2B5EF4-FFF2-40B4-BE49-F238E27FC236}">
                <a16:creationId xmlns:a16="http://schemas.microsoft.com/office/drawing/2014/main" id="{0EB62C0C-4FE5-4A5E-B0C7-78DD26FC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14525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2  두 AI 판독의 합의</a:t>
            </a:r>
          </a:p>
          <a:p xmlns:a="http://schemas.openxmlformats.org/drawingml/2006/main">
            <a:pPr>
              <a:defRPr sz="1725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미트와 플레이트 앞선</a:t>
            </a:r>
          </a:p>
        </p:txBody>
      </p:sp>
      <p:sp>
        <p:nvSpPr>
          <p:cNvPr id="6" name="process-3">
            <a:extLst xmlns:a="http://schemas.openxmlformats.org/drawingml/2006/main">
              <a:ext uri="{FF2B5EF4-FFF2-40B4-BE49-F238E27FC236}">
                <a16:creationId xmlns:a16="http://schemas.microsoft.com/office/drawing/2014/main" id="{19F88483-5942-4129-A469-0D4EFDAD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1452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3  좌표 변환</a:t>
            </a:r>
          </a:p>
          <a:p xmlns:a="http://schemas.openxmlformats.org/drawingml/2006/main">
            <a:pPr>
              <a:defRPr sz="1725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영상 점을 plate_feet로</a:t>
            </a:r>
          </a:p>
        </p:txBody>
      </p:sp>
      <p:sp>
        <p:nvSpPr>
          <p:cNvPr id="7" name="process-4">
            <a:extLst xmlns:a="http://schemas.openxmlformats.org/drawingml/2006/main">
              <a:ext uri="{FF2B5EF4-FFF2-40B4-BE49-F238E27FC236}">
                <a16:creationId xmlns:a16="http://schemas.microsoft.com/office/drawing/2014/main" id="{4AA62F6F-561D-4407-BC12-480CAFB0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145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4  기존 JSONL 출력</a:t>
            </a:r>
          </a:p>
          <a:p xmlns:a="http://schemas.openxmlformats.org/drawingml/2006/main">
            <a:pPr>
              <a:defRPr sz="1725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불일치·판독 불가 시 기권</a:t>
            </a:r>
          </a:p>
        </p:txBody>
      </p:sp>
      <p:sp>
        <p:nvSpPr>
          <p:cNvPr id="8" name="evaluation-label">
            <a:extLst xmlns:a="http://schemas.openxmlformats.org/drawingml/2006/main">
              <a:ext uri="{FF2B5EF4-FFF2-40B4-BE49-F238E27FC236}">
                <a16:creationId xmlns:a16="http://schemas.microsoft.com/office/drawing/2014/main" id="{FC281857-58F0-4602-B050-F0150A0E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A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6A6A"/>
                </a:solidFill>
                <a:latin typeface="Malgun Gothic"/>
                <a:ea typeface="Malgun Gothic"/>
                <a:cs typeface="Malgun Gothic"/>
              </a:rPr>
              <a:t>M3 평가 경기 849845 · 823407</a:t>
            </a:r>
          </a:p>
        </p:txBody>
      </p:sp>
      <p:sp>
        <p:nvSpPr>
          <p:cNvPr id="9" name="denominator">
            <a:extLst xmlns:a="http://schemas.openxmlformats.org/drawingml/2006/main">
              <a:ext uri="{FF2B5EF4-FFF2-40B4-BE49-F238E27FC236}">
                <a16:creationId xmlns:a16="http://schemas.microsoft.com/office/drawing/2014/main" id="{5DBF0000-0AF3-4D1F-9BD0-53C4A57A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52775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전체 86장 중 AI 출력 58장 / 기권 28장</a:t>
            </a:r>
          </a:p>
        </p:txBody>
      </p:sp>
      <p:sp>
        <p:nvSpPr>
          <p:cNvPr id="10" name="approved-explanation">
            <a:extLst xmlns:a="http://schemas.openxmlformats.org/drawingml/2006/main">
              <a:ext uri="{FF2B5EF4-FFF2-40B4-BE49-F238E27FC236}">
                <a16:creationId xmlns:a16="http://schemas.microsoft.com/office/drawing/2014/main" id="{1835C3DF-E0EC-406A-82A5-2DF1CA36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평가 2경기에서 AI와 사람이 모두 표시한 58구의 미트 점 차이 중앙값은 2.5px입니다. 같은 변환 기준의 좌표 차이는 중앙값 약 1.1인치이며, 물리 정확도나 투수 의도를 검증한 값은 아닙니다.</a:t>
            </a:r>
          </a:p>
        </p:txBody>
      </p:sp>
      <p:sp>
        <p:nvSpPr>
          <p:cNvPr id="11" name="demo-label">
            <a:extLst xmlns:a="http://schemas.openxmlformats.org/drawingml/2006/main">
              <a:ext uri="{FF2B5EF4-FFF2-40B4-BE49-F238E27FC236}">
                <a16:creationId xmlns:a16="http://schemas.microsoft.com/office/drawing/2014/main" id="{B91F95DF-F506-4AD3-8746-9535A4A4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A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6A6A"/>
                </a:solidFill>
                <a:latin typeface="Malgun Gothic"/>
                <a:ea typeface="Malgun Gothic"/>
                <a:cs typeface="Malgun Gothic"/>
              </a:rPr>
              <a:t>시연 경기 849843</a:t>
            </a:r>
          </a:p>
        </p:txBody>
      </p:sp>
      <p:sp>
        <p:nvSpPr>
          <p:cNvPr id="12" name="demo">
            <a:extLst xmlns:a="http://schemas.openxmlformats.org/drawingml/2006/main">
              <a:ext uri="{FF2B5EF4-FFF2-40B4-BE49-F238E27FC236}">
                <a16:creationId xmlns:a16="http://schemas.microsoft.com/office/drawing/2014/main" id="{1118B3D8-0AAC-4857-B433-35FD570B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5429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39구 중 좌표 있는 27구 사용</a:t>
            </a:r>
          </a:p>
          <a:p xmlns:a="http://schemas.openxmlformats.org/drawingml/2006/main">
            <a:pPr>
              <a:defRPr sz="1800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실제 투구 공개 후 가로(x)만 표시</a:t>
            </a:r>
          </a:p>
          <a:p xmlns:a="http://schemas.openxmlformats.org/drawingml/2006/main">
            <a:pPr>
              <a:defRPr sz="1800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높이·9구역·투수 의도 미표시</a:t>
            </a:r>
          </a:p>
        </p:txBody>
      </p:sp>
      <p:sp>
        <p:nvSpPr>
          <p:cNvPr id="13" name="limits-label">
            <a:extLst xmlns:a="http://schemas.openxmlformats.org/drawingml/2006/main">
              <a:ext uri="{FF2B5EF4-FFF2-40B4-BE49-F238E27FC236}">
                <a16:creationId xmlns:a16="http://schemas.microsoft.com/office/drawing/2014/main" id="{5B72CB72-4D29-4929-9856-AECD5BBF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6252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A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6A6A"/>
                </a:solidFill>
                <a:latin typeface="Malgun Gothic"/>
                <a:ea typeface="Malgun Gothic"/>
                <a:cs typeface="Malgun Gothic"/>
              </a:rPr>
              <a:t>주요 한계</a:t>
            </a:r>
          </a:p>
        </p:txBody>
      </p:sp>
      <p:sp>
        <p:nvSpPr>
          <p:cNvPr id="14" name="limits">
            <a:extLst xmlns:a="http://schemas.openxmlformats.org/drawingml/2006/main">
              <a:ext uri="{FF2B5EF4-FFF2-40B4-BE49-F238E27FC236}">
                <a16:creationId xmlns:a16="http://schemas.microsoft.com/office/drawing/2014/main" id="{3D0C46EC-5770-412B-9363-BC92B9E0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10200"/>
            <a:ext cx="525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사람 1명의 1회 표시, 압축 영상의 선택 편향</a:t>
            </a:r>
          </a:p>
          <a:p xmlns:a="http://schemas.openxmlformats.org/drawingml/2006/main">
            <a:pPr>
              <a:defRPr sz="1800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AI가 선정한 프레임, 실시간성 미검증</a:t>
            </a:r>
          </a:p>
          <a:p xmlns:a="http://schemas.openxmlformats.org/drawingml/2006/main">
            <a:pPr>
              <a:defRPr sz="1800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2E35"/>
                </a:solidFill>
                <a:latin typeface="Malgun Gothic"/>
                <a:ea typeface="Malgun Gothic"/>
                <a:cs typeface="Malgun Gothic"/>
              </a:rPr>
              <a:t>시연 경기는 M3 사람 비교 평가에서 제외</a:t>
            </a:r>
          </a:p>
        </p:txBody>
      </p:sp>
    </p:spTree>
    <p:extLst>
      <p:ext uri="{BB962C8B-B14F-4D97-AF65-F5344CB8AC3E}">
        <p14:creationId xmlns:p14="http://schemas.microsoft.com/office/powerpoint/2010/main" val="6149136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2026-10-04T09:31:57.7870000Z</dcterms:created>
  <dcterms:modified xsi:type="dcterms:W3CDTF">2026-10-04T09:31:57.7870000Z</dcterms:modified>
</coreProperties>
</file>